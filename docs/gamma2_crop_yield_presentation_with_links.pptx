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stating that this is a crop yield prediction project completed by Gamma 2. The key business message is honest: we built the full data science and deployment workflow, but the current dataset is not strong enough for a reliable production decision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problem for business stakeholders. We are not just asking which model has the best score. We are asking whether the current data can support reliable decisions. The answer is not yet. The prototype is useful, but the production opportunity is better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end-to-end workflow. We did not stop at a notebook. We cleaned the data, explored it, engineered features, compared models, interpreted the selected model, and built a Streamlit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explain why the model scores were not a surprise. The EDA already showed weak relationships. The data was not dirty. The issue is that the variables do not capture enough of the real drivers of yield.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feature engineering in simple terms. We gave the models extra variables that represent nutrient balance, possible nonlinear temperature response, and rainfall-fertilizer interaction. But these are still built from the same limited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experiments. Multiple Linear Regression was the baseline, Random Forest tested nonlinear bagging, and XGBoost tested boosting. The important point is that the comparisons used the cleaned dataset and consistent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table in business language. XGBoost had the best RMSE and R-squared, but the improvement over Random Forest was tiny. Random Forest had the best MAE and slightly better cross-validation mean RMSE. All R-squared values were close to zero, so no model was strong.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actual versus predicted plots to show that predictions were clustered around the average yield. This is why we are careful: the model is useful as a technical prototype, but it is not yet reliable for real operational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that the team moved from analysis to a usable interface. The user enters the original variables and the app automatically creates the engineered features, loads the saved pipeline, and returns a yield estimate. The saved model was verified before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business recommendation. The work is not a failure because the model was weak. It is a useful finding: the firm needs richer data before crop yield prediction can become a reliable business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hyperlink" Target="https://github.com/Ronkecrown/gamma2-crop-yield-prediction" TargetMode="External"/><Relationship Id="rId4" Type="http://schemas.openxmlformats.org/officeDocument/2006/relationships/hyperlink" Target="https://gamma2-crop-yield-predictor.streamlit.app/"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4332"/>
        </a:solidFill>
      </p:bgPr>
    </p:bg>
    <p:spTree>
      <p:nvGrpSpPr>
        <p:cNvPr id="1" name=""/>
        <p:cNvGrpSpPr/>
        <p:nvPr/>
      </p:nvGrpSpPr>
      <p:grpSpPr>
        <a:xfrm>
          <a:off x="0" y="0"/>
          <a:ext cx="0" cy="0"/>
          <a:chOff x="0" y="0"/>
          <a:chExt cx="0" cy="0"/>
        </a:xfrm>
      </p:grpSpPr>
      <p:sp>
        <p:nvSpPr>
          <p:cNvPr id="2" name="Text 0"/>
          <p:cNvSpPr/>
          <p:nvPr/>
        </p:nvSpPr>
        <p:spPr>
          <a:xfrm>
            <a:off x="685800" y="1143000"/>
            <a:ext cx="5852160" cy="502920"/>
          </a:xfrm>
          <a:prstGeom prst="rect">
            <a:avLst/>
          </a:prstGeom>
          <a:noFill/>
          <a:ln/>
        </p:spPr>
        <p:txBody>
          <a:bodyPr wrap="square" lIns="0" tIns="0" rIns="0" bIns="0" rtlCol="0" anchor="ctr"/>
          <a:lstStyle/>
          <a:p>
            <a:pPr indent="0" marL="0">
              <a:buNone/>
            </a:pPr>
            <a:r>
              <a:rPr lang="en-US" sz="3600" b="1" dirty="0">
                <a:solidFill>
                  <a:srgbClr val="FFFFFF"/>
                </a:solidFill>
                <a:latin typeface="Aptos Display" pitchFamily="34" charset="0"/>
                <a:ea typeface="Aptos Display" pitchFamily="34" charset="-122"/>
                <a:cs typeface="Aptos Display" pitchFamily="34" charset="-120"/>
              </a:rPr>
              <a:t>Crop Yield Prediction</a:t>
            </a:r>
            <a:endParaRPr lang="en-US" sz="3600" dirty="0"/>
          </a:p>
        </p:txBody>
      </p:sp>
      <p:sp>
        <p:nvSpPr>
          <p:cNvPr id="3" name="Text 1"/>
          <p:cNvSpPr/>
          <p:nvPr/>
        </p:nvSpPr>
        <p:spPr>
          <a:xfrm>
            <a:off x="713232" y="1755648"/>
            <a:ext cx="5806440" cy="457200"/>
          </a:xfrm>
          <a:prstGeom prst="rect">
            <a:avLst/>
          </a:prstGeom>
          <a:noFill/>
          <a:ln/>
        </p:spPr>
        <p:txBody>
          <a:bodyPr wrap="square" lIns="0" tIns="0" rIns="0" bIns="0" rtlCol="0" anchor="ctr"/>
          <a:lstStyle/>
          <a:p>
            <a:pPr indent="0" marL="0">
              <a:buNone/>
            </a:pPr>
            <a:r>
              <a:rPr lang="en-US" sz="1800" dirty="0">
                <a:solidFill>
                  <a:srgbClr val="D8F3DC"/>
                </a:solidFill>
                <a:latin typeface="Aptos" pitchFamily="34" charset="0"/>
                <a:ea typeface="Aptos" pitchFamily="34" charset="-122"/>
                <a:cs typeface="Aptos" pitchFamily="34" charset="-120"/>
              </a:rPr>
              <a:t>Using machine learning to separate business insight from algorithmic noise</a:t>
            </a:r>
            <a:endParaRPr lang="en-US" sz="1800" dirty="0"/>
          </a:p>
        </p:txBody>
      </p:sp>
      <p:sp>
        <p:nvSpPr>
          <p:cNvPr id="4" name="Text 2"/>
          <p:cNvSpPr/>
          <p:nvPr/>
        </p:nvSpPr>
        <p:spPr>
          <a:xfrm>
            <a:off x="713232" y="4407408"/>
            <a:ext cx="2011680" cy="237744"/>
          </a:xfrm>
          <a:prstGeom prst="rect">
            <a:avLst/>
          </a:prstGeom>
          <a:noFill/>
          <a:ln/>
        </p:spPr>
        <p:txBody>
          <a:bodyPr wrap="square" lIns="0" tIns="0" rIns="0" bIns="0" rtlCol="0" anchor="ctr"/>
          <a:lstStyle/>
          <a:p>
            <a:pPr indent="0" marL="0">
              <a:buNone/>
            </a:pPr>
            <a:r>
              <a:rPr lang="en-US" sz="1400" b="1" dirty="0">
                <a:solidFill>
                  <a:srgbClr val="FDBA74"/>
                </a:solidFill>
                <a:latin typeface="Aptos" pitchFamily="34" charset="0"/>
                <a:ea typeface="Aptos" pitchFamily="34" charset="-122"/>
                <a:cs typeface="Aptos" pitchFamily="34" charset="-120"/>
              </a:rPr>
              <a:t>Gamma 2</a:t>
            </a:r>
            <a:endParaRPr lang="en-US" sz="1400" dirty="0"/>
          </a:p>
        </p:txBody>
      </p:sp>
      <p:sp>
        <p:nvSpPr>
          <p:cNvPr id="5" name="Text 3"/>
          <p:cNvSpPr/>
          <p:nvPr/>
        </p:nvSpPr>
        <p:spPr>
          <a:xfrm>
            <a:off x="713232" y="4736592"/>
            <a:ext cx="5852160" cy="256032"/>
          </a:xfrm>
          <a:prstGeom prst="rect">
            <a:avLst/>
          </a:prstGeom>
          <a:noFill/>
          <a:ln/>
        </p:spPr>
        <p:txBody>
          <a:bodyPr wrap="square" lIns="0" tIns="0" rIns="0" bIns="0" rtlCol="0" anchor="ctr"/>
          <a:lstStyle/>
          <a:p>
            <a:pPr indent="0" marL="0">
              <a:buNone/>
            </a:pPr>
            <a:r>
              <a:rPr lang="en-US" sz="1200" dirty="0">
                <a:solidFill>
                  <a:srgbClr val="E2E8F0"/>
                </a:solidFill>
                <a:latin typeface="Aptos" pitchFamily="34" charset="0"/>
                <a:ea typeface="Aptos" pitchFamily="34" charset="-122"/>
                <a:cs typeface="Aptos" pitchFamily="34" charset="-120"/>
              </a:rPr>
              <a:t>Aderonke • Rufaro • Marina • Emmanuel • Simon • Parfait</a:t>
            </a:r>
            <a:endParaRPr lang="en-US" sz="1200" dirty="0"/>
          </a:p>
        </p:txBody>
      </p:sp>
      <p:sp>
        <p:nvSpPr>
          <p:cNvPr id="6" name="Shape 4"/>
          <p:cNvSpPr/>
          <p:nvPr/>
        </p:nvSpPr>
        <p:spPr>
          <a:xfrm>
            <a:off x="6903720" y="1188720"/>
            <a:ext cx="1417320" cy="960120"/>
          </a:xfrm>
          <a:prstGeom prst="roundRect">
            <a:avLst>
              <a:gd name="adj" fmla="val 11429"/>
            </a:avLst>
          </a:prstGeom>
          <a:solidFill>
            <a:srgbClr val="FFFFFF"/>
          </a:solidFill>
          <a:ln w="12700">
            <a:solidFill>
              <a:srgbClr val="E5E7EB"/>
            </a:solidFill>
            <a:prstDash val="solid"/>
          </a:ln>
        </p:spPr>
      </p:sp>
      <p:sp>
        <p:nvSpPr>
          <p:cNvPr id="7" name="Text 5"/>
          <p:cNvSpPr/>
          <p:nvPr/>
        </p:nvSpPr>
        <p:spPr>
          <a:xfrm>
            <a:off x="7068312" y="1335024"/>
            <a:ext cx="1088136" cy="384048"/>
          </a:xfrm>
          <a:prstGeom prst="rect">
            <a:avLst/>
          </a:prstGeom>
          <a:noFill/>
          <a:ln/>
        </p:spPr>
        <p:txBody>
          <a:bodyPr wrap="square" lIns="0" tIns="0" rIns="0" bIns="0" rtlCol="0" anchor="ctr"/>
          <a:lstStyle/>
          <a:p>
            <a:pPr algn="ctr" indent="0" marL="0">
              <a:buNone/>
            </a:pPr>
            <a:r>
              <a:rPr lang="en-US" sz="2300" b="1" dirty="0">
                <a:solidFill>
                  <a:srgbClr val="2D6A4F"/>
                </a:solidFill>
                <a:latin typeface="Aptos Display" pitchFamily="34" charset="0"/>
                <a:ea typeface="Aptos Display" pitchFamily="34" charset="-122"/>
                <a:cs typeface="Aptos Display" pitchFamily="34" charset="-120"/>
              </a:rPr>
              <a:t>999</a:t>
            </a:r>
            <a:endParaRPr lang="en-US" sz="2300" dirty="0"/>
          </a:p>
        </p:txBody>
      </p:sp>
      <p:sp>
        <p:nvSpPr>
          <p:cNvPr id="8" name="Text 6"/>
          <p:cNvSpPr/>
          <p:nvPr/>
        </p:nvSpPr>
        <p:spPr>
          <a:xfrm>
            <a:off x="7068312" y="1792224"/>
            <a:ext cx="1088136" cy="246888"/>
          </a:xfrm>
          <a:prstGeom prst="rect">
            <a:avLst/>
          </a:prstGeom>
          <a:noFill/>
          <a:ln/>
        </p:spPr>
        <p:txBody>
          <a:bodyPr wrap="square" lIns="254" tIns="254" rIns="254" bIns="254" rtlCol="0" anchor="ctr"/>
          <a:lstStyle/>
          <a:p>
            <a:pPr algn="ctr" indent="0" marL="0">
              <a:buNone/>
            </a:pPr>
            <a:r>
              <a:rPr lang="en-US" sz="1050" dirty="0">
                <a:solidFill>
                  <a:srgbClr val="334155"/>
                </a:solidFill>
                <a:latin typeface="Aptos" pitchFamily="34" charset="0"/>
                <a:ea typeface="Aptos" pitchFamily="34" charset="-122"/>
                <a:cs typeface="Aptos" pitchFamily="34" charset="-120"/>
              </a:rPr>
              <a:t>clean records</a:t>
            </a:r>
            <a:endParaRPr lang="en-US" sz="1050" dirty="0"/>
          </a:p>
        </p:txBody>
      </p:sp>
      <p:sp>
        <p:nvSpPr>
          <p:cNvPr id="9" name="Shape 7"/>
          <p:cNvSpPr/>
          <p:nvPr/>
        </p:nvSpPr>
        <p:spPr>
          <a:xfrm>
            <a:off x="8458200" y="1188720"/>
            <a:ext cx="1417320" cy="960120"/>
          </a:xfrm>
          <a:prstGeom prst="roundRect">
            <a:avLst>
              <a:gd name="adj" fmla="val 11429"/>
            </a:avLst>
          </a:prstGeom>
          <a:solidFill>
            <a:srgbClr val="FFFFFF"/>
          </a:solidFill>
          <a:ln w="12700">
            <a:solidFill>
              <a:srgbClr val="E5E7EB"/>
            </a:solidFill>
            <a:prstDash val="solid"/>
          </a:ln>
        </p:spPr>
      </p:sp>
      <p:sp>
        <p:nvSpPr>
          <p:cNvPr id="10" name="Text 8"/>
          <p:cNvSpPr/>
          <p:nvPr/>
        </p:nvSpPr>
        <p:spPr>
          <a:xfrm>
            <a:off x="8622792" y="1335024"/>
            <a:ext cx="1088136" cy="384048"/>
          </a:xfrm>
          <a:prstGeom prst="rect">
            <a:avLst/>
          </a:prstGeom>
          <a:noFill/>
          <a:ln/>
        </p:spPr>
        <p:txBody>
          <a:bodyPr wrap="square" lIns="0" tIns="0" rIns="0" bIns="0" rtlCol="0" anchor="ctr"/>
          <a:lstStyle/>
          <a:p>
            <a:pPr algn="ctr" indent="0" marL="0">
              <a:buNone/>
            </a:pPr>
            <a:r>
              <a:rPr lang="en-US" sz="2300" b="1" dirty="0">
                <a:solidFill>
                  <a:srgbClr val="D97706"/>
                </a:solidFill>
                <a:latin typeface="Aptos Display" pitchFamily="34" charset="0"/>
                <a:ea typeface="Aptos Display" pitchFamily="34" charset="-122"/>
                <a:cs typeface="Aptos Display" pitchFamily="34" charset="-120"/>
              </a:rPr>
              <a:t>5</a:t>
            </a:r>
            <a:endParaRPr lang="en-US" sz="2300" dirty="0"/>
          </a:p>
        </p:txBody>
      </p:sp>
      <p:sp>
        <p:nvSpPr>
          <p:cNvPr id="11" name="Text 9"/>
          <p:cNvSpPr/>
          <p:nvPr/>
        </p:nvSpPr>
        <p:spPr>
          <a:xfrm>
            <a:off x="8622792" y="1792224"/>
            <a:ext cx="1088136" cy="246888"/>
          </a:xfrm>
          <a:prstGeom prst="rect">
            <a:avLst/>
          </a:prstGeom>
          <a:noFill/>
          <a:ln/>
        </p:spPr>
        <p:txBody>
          <a:bodyPr wrap="square" lIns="254" tIns="254" rIns="254" bIns="254" rtlCol="0" anchor="ctr"/>
          <a:lstStyle/>
          <a:p>
            <a:pPr algn="ctr" indent="0" marL="0">
              <a:buNone/>
            </a:pPr>
            <a:r>
              <a:rPr lang="en-US" sz="1050" dirty="0">
                <a:solidFill>
                  <a:srgbClr val="334155"/>
                </a:solidFill>
                <a:latin typeface="Aptos" pitchFamily="34" charset="0"/>
                <a:ea typeface="Aptos" pitchFamily="34" charset="-122"/>
                <a:cs typeface="Aptos" pitchFamily="34" charset="-120"/>
              </a:rPr>
              <a:t>model tests</a:t>
            </a:r>
            <a:endParaRPr lang="en-US" sz="1050" dirty="0"/>
          </a:p>
        </p:txBody>
      </p:sp>
      <p:sp>
        <p:nvSpPr>
          <p:cNvPr id="12" name="Shape 10"/>
          <p:cNvSpPr/>
          <p:nvPr/>
        </p:nvSpPr>
        <p:spPr>
          <a:xfrm>
            <a:off x="10012680" y="1188720"/>
            <a:ext cx="1417320" cy="960120"/>
          </a:xfrm>
          <a:prstGeom prst="roundRect">
            <a:avLst>
              <a:gd name="adj" fmla="val 11429"/>
            </a:avLst>
          </a:prstGeom>
          <a:solidFill>
            <a:srgbClr val="FFFFFF"/>
          </a:solidFill>
          <a:ln w="12700">
            <a:solidFill>
              <a:srgbClr val="E5E7EB"/>
            </a:solidFill>
            <a:prstDash val="solid"/>
          </a:ln>
        </p:spPr>
      </p:sp>
      <p:sp>
        <p:nvSpPr>
          <p:cNvPr id="13" name="Text 11"/>
          <p:cNvSpPr/>
          <p:nvPr/>
        </p:nvSpPr>
        <p:spPr>
          <a:xfrm>
            <a:off x="10177272" y="1335024"/>
            <a:ext cx="1088136" cy="384048"/>
          </a:xfrm>
          <a:prstGeom prst="rect">
            <a:avLst/>
          </a:prstGeom>
          <a:noFill/>
          <a:ln/>
        </p:spPr>
        <p:txBody>
          <a:bodyPr wrap="square" lIns="0" tIns="0" rIns="0" bIns="0" rtlCol="0" anchor="ctr"/>
          <a:lstStyle/>
          <a:p>
            <a:pPr algn="ctr" indent="0" marL="0">
              <a:buNone/>
            </a:pPr>
            <a:r>
              <a:rPr lang="en-US" sz="2300" b="1" dirty="0">
                <a:solidFill>
                  <a:srgbClr val="DC2626"/>
                </a:solidFill>
                <a:latin typeface="Aptos Display" pitchFamily="34" charset="0"/>
                <a:ea typeface="Aptos Display" pitchFamily="34" charset="-122"/>
                <a:cs typeface="Aptos Display" pitchFamily="34" charset="-120"/>
              </a:rPr>
              <a:t>&lt;1%</a:t>
            </a:r>
            <a:endParaRPr lang="en-US" sz="2300" dirty="0"/>
          </a:p>
        </p:txBody>
      </p:sp>
      <p:sp>
        <p:nvSpPr>
          <p:cNvPr id="14" name="Text 12"/>
          <p:cNvSpPr/>
          <p:nvPr/>
        </p:nvSpPr>
        <p:spPr>
          <a:xfrm>
            <a:off x="10177272" y="1792224"/>
            <a:ext cx="1088136" cy="246888"/>
          </a:xfrm>
          <a:prstGeom prst="rect">
            <a:avLst/>
          </a:prstGeom>
          <a:noFill/>
          <a:ln/>
        </p:spPr>
        <p:txBody>
          <a:bodyPr wrap="square" lIns="254" tIns="254" rIns="254" bIns="254" rtlCol="0" anchor="ctr"/>
          <a:lstStyle/>
          <a:p>
            <a:pPr algn="ctr" indent="0" marL="0">
              <a:buNone/>
            </a:pPr>
            <a:r>
              <a:rPr lang="en-US" sz="1050" dirty="0">
                <a:solidFill>
                  <a:srgbClr val="334155"/>
                </a:solidFill>
                <a:latin typeface="Aptos" pitchFamily="34" charset="0"/>
                <a:ea typeface="Aptos" pitchFamily="34" charset="-122"/>
                <a:cs typeface="Aptos" pitchFamily="34" charset="-120"/>
              </a:rPr>
              <a:t>yield variation explained</a:t>
            </a:r>
            <a:endParaRPr lang="en-US" sz="1050" dirty="0"/>
          </a:p>
        </p:txBody>
      </p:sp>
      <p:sp>
        <p:nvSpPr>
          <p:cNvPr id="15" name="Shape 13"/>
          <p:cNvSpPr/>
          <p:nvPr/>
        </p:nvSpPr>
        <p:spPr>
          <a:xfrm>
            <a:off x="6903720" y="2788920"/>
            <a:ext cx="4526280" cy="2240280"/>
          </a:xfrm>
          <a:prstGeom prst="roundRect">
            <a:avLst>
              <a:gd name="adj" fmla="val 7347"/>
            </a:avLst>
          </a:prstGeom>
          <a:solidFill>
            <a:srgbClr val="FFFFFF">
              <a:alpha val="96000"/>
            </a:srgbClr>
          </a:solidFill>
          <a:ln w="12700">
            <a:solidFill>
              <a:srgbClr val="B7E4C7"/>
            </a:solidFill>
            <a:prstDash val="solid"/>
          </a:ln>
        </p:spPr>
      </p:sp>
      <p:sp>
        <p:nvSpPr>
          <p:cNvPr id="16" name="Text 14"/>
          <p:cNvSpPr/>
          <p:nvPr/>
        </p:nvSpPr>
        <p:spPr>
          <a:xfrm>
            <a:off x="7178040" y="3054096"/>
            <a:ext cx="2286000" cy="237744"/>
          </a:xfrm>
          <a:prstGeom prst="rect">
            <a:avLst/>
          </a:prstGeom>
          <a:noFill/>
          <a:ln/>
        </p:spPr>
        <p:txBody>
          <a:bodyPr wrap="square" lIns="0" tIns="0" rIns="0" bIns="0" rtlCol="0" anchor="ctr"/>
          <a:lstStyle/>
          <a:p>
            <a:pPr indent="0" marL="0">
              <a:buNone/>
            </a:pPr>
            <a:r>
              <a:rPr lang="en-US" sz="1200" b="1" dirty="0">
                <a:solidFill>
                  <a:srgbClr val="1B4332"/>
                </a:solidFill>
                <a:latin typeface="Aptos" pitchFamily="34" charset="0"/>
                <a:ea typeface="Aptos" pitchFamily="34" charset="-122"/>
                <a:cs typeface="Aptos" pitchFamily="34" charset="-120"/>
              </a:rPr>
              <a:t>Business headline</a:t>
            </a:r>
            <a:endParaRPr lang="en-US" sz="1200" dirty="0"/>
          </a:p>
        </p:txBody>
      </p:sp>
      <p:sp>
        <p:nvSpPr>
          <p:cNvPr id="17" name="Text 15"/>
          <p:cNvSpPr/>
          <p:nvPr/>
        </p:nvSpPr>
        <p:spPr>
          <a:xfrm>
            <a:off x="7178040" y="3401568"/>
            <a:ext cx="3840480" cy="868680"/>
          </a:xfrm>
          <a:prstGeom prst="rect">
            <a:avLst/>
          </a:prstGeom>
          <a:noFill/>
          <a:ln/>
        </p:spPr>
        <p:txBody>
          <a:bodyPr wrap="square" lIns="254" tIns="254" rIns="254" bIns="254" rtlCol="0" anchor="ctr">
            <a:normAutofit/>
          </a:bodyPr>
          <a:lstStyle/>
          <a:p>
            <a:pPr indent="0" marL="0">
              <a:buNone/>
            </a:pPr>
            <a:r>
              <a:rPr lang="en-US" sz="1800" b="1" dirty="0">
                <a:solidFill>
                  <a:srgbClr val="334155"/>
                </a:solidFill>
                <a:latin typeface="Aptos Display" pitchFamily="34" charset="0"/>
                <a:ea typeface="Aptos Display" pitchFamily="34" charset="-122"/>
                <a:cs typeface="Aptos Display" pitchFamily="34" charset="-120"/>
              </a:rPr>
              <a:t>The prototype works, but the current data is not yet strong enough for reliable yield decisions.</a:t>
            </a:r>
            <a:endParaRPr lang="en-US" sz="1800" dirty="0"/>
          </a:p>
        </p:txBody>
      </p:sp>
      <p:sp>
        <p:nvSpPr>
          <p:cNvPr id="18" name="Text 16"/>
          <p:cNvSpPr/>
          <p:nvPr/>
        </p:nvSpPr>
        <p:spPr>
          <a:xfrm>
            <a:off x="7178040" y="4407408"/>
            <a:ext cx="3840480" cy="301752"/>
          </a:xfrm>
          <a:prstGeom prst="rect">
            <a:avLst/>
          </a:prstGeom>
          <a:noFill/>
          <a:ln/>
        </p:spPr>
        <p:txBody>
          <a:bodyPr wrap="square" lIns="0" tIns="0" rIns="0" bIns="0" rtlCol="0" anchor="ctr"/>
          <a:lstStyle/>
          <a:p>
            <a:pPr indent="0" marL="0">
              <a:buNone/>
            </a:pPr>
            <a:r>
              <a:rPr lang="en-US" sz="1250" dirty="0">
                <a:solidFill>
                  <a:srgbClr val="1B4332"/>
                </a:solidFill>
                <a:latin typeface="Aptos" pitchFamily="34" charset="0"/>
                <a:ea typeface="Aptos" pitchFamily="34" charset="-122"/>
                <a:cs typeface="Aptos" pitchFamily="34" charset="-120"/>
              </a:rPr>
              <a:t>Recommendation: invest first in richer farm, soil, location and season data.</a:t>
            </a:r>
            <a:endParaRPr lang="en-US" sz="1250" dirty="0"/>
          </a:p>
        </p:txBody>
      </p:sp>
      <p:sp>
        <p:nvSpPr>
          <p:cNvPr id="19" name="Text 17"/>
          <p:cNvSpPr/>
          <p:nvPr/>
        </p:nvSpPr>
        <p:spPr>
          <a:xfrm>
            <a:off x="11109960" y="6446520"/>
            <a:ext cx="548640" cy="201168"/>
          </a:xfrm>
          <a:prstGeom prst="rect">
            <a:avLst/>
          </a:prstGeom>
          <a:noFill/>
          <a:ln/>
        </p:spPr>
        <p:txBody>
          <a:bodyPr wrap="square" lIns="0" tIns="0" rIns="0" bIns="0" rtlCol="0" anchor="ctr"/>
          <a:lstStyle/>
          <a:p>
            <a:pPr algn="r" indent="0" marL="0">
              <a:buNone/>
            </a:pPr>
            <a:r>
              <a:rPr lang="en-US" sz="900" dirty="0">
                <a:solidFill>
                  <a:srgbClr val="94A3B8"/>
                </a:solidFill>
                <a:latin typeface="Aptos" pitchFamily="34" charset="0"/>
                <a:ea typeface="Aptos" pitchFamily="34" charset="-122"/>
                <a:cs typeface="Aptos"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2E8"/>
        </a:solidFill>
      </p:bgPr>
    </p:bg>
    <p:spTree>
      <p:nvGrpSpPr>
        <p:cNvPr id="1" name=""/>
        <p:cNvGrpSpPr/>
        <p:nvPr/>
      </p:nvGrpSpPr>
      <p:grpSpPr>
        <a:xfrm>
          <a:off x="0" y="0"/>
          <a:ext cx="0" cy="0"/>
          <a:chOff x="0" y="0"/>
          <a:chExt cx="0" cy="0"/>
        </a:xfrm>
      </p:grpSpPr>
      <p:sp>
        <p:nvSpPr>
          <p:cNvPr id="2" name="Text 0"/>
          <p:cNvSpPr/>
          <p:nvPr/>
        </p:nvSpPr>
        <p:spPr>
          <a:xfrm>
            <a:off x="502920" y="329184"/>
            <a:ext cx="7406640" cy="329184"/>
          </a:xfrm>
          <a:prstGeom prst="rect">
            <a:avLst/>
          </a:prstGeom>
          <a:noFill/>
          <a:ln/>
        </p:spPr>
        <p:txBody>
          <a:bodyPr wrap="square" lIns="0" tIns="0" rIns="0" bIns="0" rtlCol="0" anchor="ctr"/>
          <a:lstStyle/>
          <a:p>
            <a:pPr indent="0" marL="0">
              <a:buNone/>
            </a:pPr>
            <a:r>
              <a:rPr lang="en-US" sz="2300" b="1" dirty="0">
                <a:solidFill>
                  <a:srgbClr val="1B4332"/>
                </a:solidFill>
                <a:latin typeface="Aptos Display" pitchFamily="34" charset="0"/>
                <a:ea typeface="Aptos Display" pitchFamily="34" charset="-122"/>
                <a:cs typeface="Aptos Display" pitchFamily="34" charset="-120"/>
              </a:rPr>
              <a:t>The business question</a:t>
            </a:r>
            <a:endParaRPr lang="en-US" sz="2300" dirty="0"/>
          </a:p>
        </p:txBody>
      </p:sp>
      <p:sp>
        <p:nvSpPr>
          <p:cNvPr id="3" name="Text 1"/>
          <p:cNvSpPr/>
          <p:nvPr/>
        </p:nvSpPr>
        <p:spPr>
          <a:xfrm>
            <a:off x="8549640" y="384048"/>
            <a:ext cx="3291840" cy="219456"/>
          </a:xfrm>
          <a:prstGeom prst="rect">
            <a:avLst/>
          </a:prstGeom>
          <a:noFill/>
          <a:ln/>
        </p:spPr>
        <p:txBody>
          <a:bodyPr wrap="square" lIns="0" tIns="0" rIns="0" bIns="0" rtlCol="0" anchor="ctr"/>
          <a:lstStyle/>
          <a:p>
            <a:pPr algn="r" indent="0" marL="0">
              <a:buNone/>
            </a:pPr>
            <a:r>
              <a:rPr lang="en-US" sz="950" dirty="0">
                <a:solidFill>
                  <a:srgbClr val="64748B"/>
                </a:solidFill>
                <a:latin typeface="Aptos" pitchFamily="34" charset="0"/>
                <a:ea typeface="Aptos" pitchFamily="34" charset="-122"/>
                <a:cs typeface="Aptos" pitchFamily="34" charset="-120"/>
              </a:rPr>
              <a:t>Gamma 2 • Crop Yield Prediction</a:t>
            </a:r>
            <a:endParaRPr lang="en-US" sz="950" dirty="0"/>
          </a:p>
        </p:txBody>
      </p:sp>
      <p:sp>
        <p:nvSpPr>
          <p:cNvPr id="4" name="Shape 2"/>
          <p:cNvSpPr/>
          <p:nvPr/>
        </p:nvSpPr>
        <p:spPr>
          <a:xfrm>
            <a:off x="502920" y="768096"/>
            <a:ext cx="11201400" cy="0"/>
          </a:xfrm>
          <a:prstGeom prst="line">
            <a:avLst/>
          </a:prstGeom>
          <a:noFill/>
          <a:ln w="12700">
            <a:solidFill>
              <a:srgbClr val="E2E8F0"/>
            </a:solidFill>
            <a:prstDash val="solid"/>
          </a:ln>
        </p:spPr>
      </p:sp>
      <p:sp>
        <p:nvSpPr>
          <p:cNvPr id="5" name="Text 3"/>
          <p:cNvSpPr/>
          <p:nvPr/>
        </p:nvSpPr>
        <p:spPr>
          <a:xfrm>
            <a:off x="640080" y="1078992"/>
            <a:ext cx="6126480" cy="777240"/>
          </a:xfrm>
          <a:prstGeom prst="rect">
            <a:avLst/>
          </a:prstGeom>
          <a:noFill/>
          <a:ln/>
        </p:spPr>
        <p:txBody>
          <a:bodyPr wrap="square" lIns="0" tIns="0" rIns="0" bIns="0" rtlCol="0" anchor="ctr"/>
          <a:lstStyle/>
          <a:p>
            <a:pPr indent="0" marL="0">
              <a:buNone/>
            </a:pPr>
            <a:r>
              <a:rPr lang="en-US" sz="2900" b="1" dirty="0">
                <a:solidFill>
                  <a:srgbClr val="1B4332"/>
                </a:solidFill>
                <a:latin typeface="Aptos Display" pitchFamily="34" charset="0"/>
                <a:ea typeface="Aptos Display" pitchFamily="34" charset="-122"/>
                <a:cs typeface="Aptos Display" pitchFamily="34" charset="-120"/>
              </a:rPr>
              <a:t>Can the current dataset support reliable crop-yield prediction?</a:t>
            </a:r>
            <a:endParaRPr lang="en-US" sz="2900" dirty="0"/>
          </a:p>
        </p:txBody>
      </p:sp>
      <p:sp>
        <p:nvSpPr>
          <p:cNvPr id="6" name="Shape 4"/>
          <p:cNvSpPr/>
          <p:nvPr/>
        </p:nvSpPr>
        <p:spPr>
          <a:xfrm>
            <a:off x="658368" y="2148840"/>
            <a:ext cx="4526280" cy="2029968"/>
          </a:xfrm>
          <a:prstGeom prst="roundRect">
            <a:avLst>
              <a:gd name="adj" fmla="val 8108"/>
            </a:avLst>
          </a:prstGeom>
          <a:solidFill>
            <a:srgbClr val="FFFFFF"/>
          </a:solidFill>
          <a:ln w="12700">
            <a:solidFill>
              <a:srgbClr val="E5E7EB"/>
            </a:solidFill>
            <a:prstDash val="solid"/>
          </a:ln>
        </p:spPr>
      </p:sp>
      <p:sp>
        <p:nvSpPr>
          <p:cNvPr id="7" name="Text 5"/>
          <p:cNvSpPr/>
          <p:nvPr/>
        </p:nvSpPr>
        <p:spPr>
          <a:xfrm>
            <a:off x="914400" y="2414016"/>
            <a:ext cx="1463040" cy="228600"/>
          </a:xfrm>
          <a:prstGeom prst="rect">
            <a:avLst/>
          </a:prstGeom>
          <a:noFill/>
          <a:ln/>
        </p:spPr>
        <p:txBody>
          <a:bodyPr wrap="square" lIns="0" tIns="0" rIns="0" bIns="0" rtlCol="0" anchor="ctr"/>
          <a:lstStyle/>
          <a:p>
            <a:pPr indent="0" marL="0">
              <a:buNone/>
            </a:pPr>
            <a:r>
              <a:rPr lang="en-US" sz="1200" b="1" dirty="0">
                <a:solidFill>
                  <a:srgbClr val="D97706"/>
                </a:solidFill>
                <a:latin typeface="Aptos" pitchFamily="34" charset="0"/>
                <a:ea typeface="Aptos" pitchFamily="34" charset="-122"/>
                <a:cs typeface="Aptos" pitchFamily="34" charset="-120"/>
              </a:rPr>
              <a:t>Answer</a:t>
            </a:r>
            <a:endParaRPr lang="en-US" sz="1200" dirty="0"/>
          </a:p>
        </p:txBody>
      </p:sp>
      <p:sp>
        <p:nvSpPr>
          <p:cNvPr id="8" name="Text 6"/>
          <p:cNvSpPr/>
          <p:nvPr/>
        </p:nvSpPr>
        <p:spPr>
          <a:xfrm>
            <a:off x="914400" y="2761488"/>
            <a:ext cx="3931920" cy="347472"/>
          </a:xfrm>
          <a:prstGeom prst="rect">
            <a:avLst/>
          </a:prstGeom>
          <a:noFill/>
          <a:ln/>
        </p:spPr>
        <p:txBody>
          <a:bodyPr wrap="square" lIns="0" tIns="0" rIns="0" bIns="0" rtlCol="0" anchor="ctr"/>
          <a:lstStyle/>
          <a:p>
            <a:pPr indent="0" marL="0">
              <a:buNone/>
            </a:pPr>
            <a:r>
              <a:rPr lang="en-US" sz="2400" b="1" dirty="0">
                <a:solidFill>
                  <a:srgbClr val="334155"/>
                </a:solidFill>
                <a:latin typeface="Aptos Display" pitchFamily="34" charset="0"/>
                <a:ea typeface="Aptos Display" pitchFamily="34" charset="-122"/>
                <a:cs typeface="Aptos Display" pitchFamily="34" charset="-120"/>
              </a:rPr>
              <a:t>Not reliably yet.</a:t>
            </a:r>
            <a:endParaRPr lang="en-US" sz="2400" dirty="0"/>
          </a:p>
        </p:txBody>
      </p:sp>
      <p:sp>
        <p:nvSpPr>
          <p:cNvPr id="9" name="Text 7"/>
          <p:cNvSpPr/>
          <p:nvPr/>
        </p:nvSpPr>
        <p:spPr>
          <a:xfrm>
            <a:off x="914400" y="3246120"/>
            <a:ext cx="3840480" cy="594360"/>
          </a:xfrm>
          <a:prstGeom prst="rect">
            <a:avLst/>
          </a:prstGeom>
          <a:noFill/>
          <a:ln/>
        </p:spPr>
        <p:txBody>
          <a:bodyPr wrap="square" lIns="0" tIns="0" rIns="0" bIns="0" rtlCol="0" anchor="ctr">
            <a:normAutofit/>
          </a:bodyPr>
          <a:lstStyle/>
          <a:p>
            <a:pPr indent="0" marL="0">
              <a:buNone/>
            </a:pPr>
            <a:r>
              <a:rPr lang="en-US" sz="1350" dirty="0">
                <a:solidFill>
                  <a:srgbClr val="334155"/>
                </a:solidFill>
                <a:latin typeface="Aptos" pitchFamily="34" charset="0"/>
                <a:ea typeface="Aptos" pitchFamily="34" charset="-122"/>
                <a:cs typeface="Aptos" pitchFamily="34" charset="-120"/>
              </a:rPr>
              <a:t>The best model explains less than 1% of unseen yield variation, so the biggest opportunity is better data, not a more complex algorithm.</a:t>
            </a:r>
            <a:endParaRPr lang="en-US" sz="1350" dirty="0"/>
          </a:p>
        </p:txBody>
      </p:sp>
      <p:sp>
        <p:nvSpPr>
          <p:cNvPr id="10" name="Shape 8"/>
          <p:cNvSpPr/>
          <p:nvPr/>
        </p:nvSpPr>
        <p:spPr>
          <a:xfrm>
            <a:off x="5715000" y="2029968"/>
            <a:ext cx="1417320" cy="960120"/>
          </a:xfrm>
          <a:prstGeom prst="roundRect">
            <a:avLst>
              <a:gd name="adj" fmla="val 11429"/>
            </a:avLst>
          </a:prstGeom>
          <a:solidFill>
            <a:srgbClr val="FFFFFF"/>
          </a:solidFill>
          <a:ln w="12700">
            <a:solidFill>
              <a:srgbClr val="E5E7EB"/>
            </a:solidFill>
            <a:prstDash val="solid"/>
          </a:ln>
        </p:spPr>
      </p:sp>
      <p:sp>
        <p:nvSpPr>
          <p:cNvPr id="11" name="Text 9"/>
          <p:cNvSpPr/>
          <p:nvPr/>
        </p:nvSpPr>
        <p:spPr>
          <a:xfrm>
            <a:off x="5879592" y="2176272"/>
            <a:ext cx="1088136" cy="384048"/>
          </a:xfrm>
          <a:prstGeom prst="rect">
            <a:avLst/>
          </a:prstGeom>
          <a:noFill/>
          <a:ln/>
        </p:spPr>
        <p:txBody>
          <a:bodyPr wrap="square" lIns="0" tIns="0" rIns="0" bIns="0" rtlCol="0" anchor="ctr"/>
          <a:lstStyle/>
          <a:p>
            <a:pPr algn="ctr" indent="0" marL="0">
              <a:buNone/>
            </a:pPr>
            <a:r>
              <a:rPr lang="en-US" sz="2300" b="1" dirty="0">
                <a:solidFill>
                  <a:srgbClr val="1B4332"/>
                </a:solidFill>
                <a:latin typeface="Aptos Display" pitchFamily="34" charset="0"/>
                <a:ea typeface="Aptos Display" pitchFamily="34" charset="-122"/>
                <a:cs typeface="Aptos Display" pitchFamily="34" charset="-120"/>
              </a:rPr>
              <a:t>8</a:t>
            </a:r>
            <a:endParaRPr lang="en-US" sz="2300" dirty="0"/>
          </a:p>
        </p:txBody>
      </p:sp>
      <p:sp>
        <p:nvSpPr>
          <p:cNvPr id="12" name="Text 10"/>
          <p:cNvSpPr/>
          <p:nvPr/>
        </p:nvSpPr>
        <p:spPr>
          <a:xfrm>
            <a:off x="5879592" y="2633472"/>
            <a:ext cx="1088136" cy="246888"/>
          </a:xfrm>
          <a:prstGeom prst="rect">
            <a:avLst/>
          </a:prstGeom>
          <a:noFill/>
          <a:ln/>
        </p:spPr>
        <p:txBody>
          <a:bodyPr wrap="square" lIns="254" tIns="254" rIns="254" bIns="254" rtlCol="0" anchor="ctr"/>
          <a:lstStyle/>
          <a:p>
            <a:pPr algn="ctr" indent="0" marL="0">
              <a:buNone/>
            </a:pPr>
            <a:r>
              <a:rPr lang="en-US" sz="1050" dirty="0">
                <a:solidFill>
                  <a:srgbClr val="334155"/>
                </a:solidFill>
                <a:latin typeface="Aptos" pitchFamily="34" charset="0"/>
                <a:ea typeface="Aptos" pitchFamily="34" charset="-122"/>
                <a:cs typeface="Aptos" pitchFamily="34" charset="-120"/>
              </a:rPr>
              <a:t>original variables</a:t>
            </a:r>
            <a:endParaRPr lang="en-US" sz="1050" dirty="0"/>
          </a:p>
        </p:txBody>
      </p:sp>
      <p:sp>
        <p:nvSpPr>
          <p:cNvPr id="13" name="Shape 11"/>
          <p:cNvSpPr/>
          <p:nvPr/>
        </p:nvSpPr>
        <p:spPr>
          <a:xfrm>
            <a:off x="7360920" y="2029968"/>
            <a:ext cx="1417320" cy="960120"/>
          </a:xfrm>
          <a:prstGeom prst="roundRect">
            <a:avLst>
              <a:gd name="adj" fmla="val 11429"/>
            </a:avLst>
          </a:prstGeom>
          <a:solidFill>
            <a:srgbClr val="FFFFFF"/>
          </a:solidFill>
          <a:ln w="12700">
            <a:solidFill>
              <a:srgbClr val="E5E7EB"/>
            </a:solidFill>
            <a:prstDash val="solid"/>
          </a:ln>
        </p:spPr>
      </p:sp>
      <p:sp>
        <p:nvSpPr>
          <p:cNvPr id="14" name="Text 12"/>
          <p:cNvSpPr/>
          <p:nvPr/>
        </p:nvSpPr>
        <p:spPr>
          <a:xfrm>
            <a:off x="7525512" y="2176272"/>
            <a:ext cx="1088136" cy="384048"/>
          </a:xfrm>
          <a:prstGeom prst="rect">
            <a:avLst/>
          </a:prstGeom>
          <a:noFill/>
          <a:ln/>
        </p:spPr>
        <p:txBody>
          <a:bodyPr wrap="square" lIns="0" tIns="0" rIns="0" bIns="0" rtlCol="0" anchor="ctr"/>
          <a:lstStyle/>
          <a:p>
            <a:pPr algn="ctr" indent="0" marL="0">
              <a:buNone/>
            </a:pPr>
            <a:r>
              <a:rPr lang="en-US" sz="2300" b="1" dirty="0">
                <a:solidFill>
                  <a:srgbClr val="2563EB"/>
                </a:solidFill>
                <a:latin typeface="Aptos Display" pitchFamily="34" charset="0"/>
                <a:ea typeface="Aptos Display" pitchFamily="34" charset="-122"/>
                <a:cs typeface="Aptos Display" pitchFamily="34" charset="-120"/>
              </a:rPr>
              <a:t>5</a:t>
            </a:r>
            <a:endParaRPr lang="en-US" sz="2300" dirty="0"/>
          </a:p>
        </p:txBody>
      </p:sp>
      <p:sp>
        <p:nvSpPr>
          <p:cNvPr id="15" name="Text 13"/>
          <p:cNvSpPr/>
          <p:nvPr/>
        </p:nvSpPr>
        <p:spPr>
          <a:xfrm>
            <a:off x="7525512" y="2633472"/>
            <a:ext cx="1088136" cy="246888"/>
          </a:xfrm>
          <a:prstGeom prst="rect">
            <a:avLst/>
          </a:prstGeom>
          <a:noFill/>
          <a:ln/>
        </p:spPr>
        <p:txBody>
          <a:bodyPr wrap="square" lIns="254" tIns="254" rIns="254" bIns="254" rtlCol="0" anchor="ctr"/>
          <a:lstStyle/>
          <a:p>
            <a:pPr algn="ctr" indent="0" marL="0">
              <a:buNone/>
            </a:pPr>
            <a:r>
              <a:rPr lang="en-US" sz="1050" dirty="0">
                <a:solidFill>
                  <a:srgbClr val="334155"/>
                </a:solidFill>
                <a:latin typeface="Aptos" pitchFamily="34" charset="0"/>
                <a:ea typeface="Aptos" pitchFamily="34" charset="-122"/>
                <a:cs typeface="Aptos" pitchFamily="34" charset="-120"/>
              </a:rPr>
              <a:t>engineered features</a:t>
            </a:r>
            <a:endParaRPr lang="en-US" sz="1050" dirty="0"/>
          </a:p>
        </p:txBody>
      </p:sp>
      <p:sp>
        <p:nvSpPr>
          <p:cNvPr id="16" name="Shape 14"/>
          <p:cNvSpPr/>
          <p:nvPr/>
        </p:nvSpPr>
        <p:spPr>
          <a:xfrm>
            <a:off x="9006840" y="2029968"/>
            <a:ext cx="1417320" cy="960120"/>
          </a:xfrm>
          <a:prstGeom prst="roundRect">
            <a:avLst>
              <a:gd name="adj" fmla="val 11429"/>
            </a:avLst>
          </a:prstGeom>
          <a:solidFill>
            <a:srgbClr val="FFFFFF"/>
          </a:solidFill>
          <a:ln w="12700">
            <a:solidFill>
              <a:srgbClr val="E5E7EB"/>
            </a:solidFill>
            <a:prstDash val="solid"/>
          </a:ln>
        </p:spPr>
      </p:sp>
      <p:sp>
        <p:nvSpPr>
          <p:cNvPr id="17" name="Text 15"/>
          <p:cNvSpPr/>
          <p:nvPr/>
        </p:nvSpPr>
        <p:spPr>
          <a:xfrm>
            <a:off x="9171432" y="2176272"/>
            <a:ext cx="1088136" cy="384048"/>
          </a:xfrm>
          <a:prstGeom prst="rect">
            <a:avLst/>
          </a:prstGeom>
          <a:noFill/>
          <a:ln/>
        </p:spPr>
        <p:txBody>
          <a:bodyPr wrap="square" lIns="0" tIns="0" rIns="0" bIns="0" rtlCol="0" anchor="ctr"/>
          <a:lstStyle/>
          <a:p>
            <a:pPr algn="ctr" indent="0" marL="0">
              <a:buNone/>
            </a:pPr>
            <a:r>
              <a:rPr lang="en-US" sz="2300" b="1" dirty="0">
                <a:solidFill>
                  <a:srgbClr val="D97706"/>
                </a:solidFill>
                <a:latin typeface="Aptos Display" pitchFamily="34" charset="0"/>
                <a:ea typeface="Aptos Display" pitchFamily="34" charset="-122"/>
                <a:cs typeface="Aptos Display" pitchFamily="34" charset="-120"/>
              </a:rPr>
              <a:t>3</a:t>
            </a:r>
            <a:endParaRPr lang="en-US" sz="2300" dirty="0"/>
          </a:p>
        </p:txBody>
      </p:sp>
      <p:sp>
        <p:nvSpPr>
          <p:cNvPr id="18" name="Text 16"/>
          <p:cNvSpPr/>
          <p:nvPr/>
        </p:nvSpPr>
        <p:spPr>
          <a:xfrm>
            <a:off x="9171432" y="2633472"/>
            <a:ext cx="1088136" cy="246888"/>
          </a:xfrm>
          <a:prstGeom prst="rect">
            <a:avLst/>
          </a:prstGeom>
          <a:noFill/>
          <a:ln/>
        </p:spPr>
        <p:txBody>
          <a:bodyPr wrap="square" lIns="254" tIns="254" rIns="254" bIns="254" rtlCol="0" anchor="ctr"/>
          <a:lstStyle/>
          <a:p>
            <a:pPr algn="ctr" indent="0" marL="0">
              <a:buNone/>
            </a:pPr>
            <a:r>
              <a:rPr lang="en-US" sz="1050" dirty="0">
                <a:solidFill>
                  <a:srgbClr val="334155"/>
                </a:solidFill>
                <a:latin typeface="Aptos" pitchFamily="34" charset="0"/>
                <a:ea typeface="Aptos" pitchFamily="34" charset="-122"/>
                <a:cs typeface="Aptos" pitchFamily="34" charset="-120"/>
              </a:rPr>
              <a:t>model families</a:t>
            </a:r>
            <a:endParaRPr lang="en-US" sz="1050" dirty="0"/>
          </a:p>
        </p:txBody>
      </p:sp>
      <p:sp>
        <p:nvSpPr>
          <p:cNvPr id="19" name="Shape 17"/>
          <p:cNvSpPr/>
          <p:nvPr/>
        </p:nvSpPr>
        <p:spPr>
          <a:xfrm>
            <a:off x="5715000" y="3273552"/>
            <a:ext cx="1417320" cy="960120"/>
          </a:xfrm>
          <a:prstGeom prst="roundRect">
            <a:avLst>
              <a:gd name="adj" fmla="val 11429"/>
            </a:avLst>
          </a:prstGeom>
          <a:solidFill>
            <a:srgbClr val="FFFFFF"/>
          </a:solidFill>
          <a:ln w="12700">
            <a:solidFill>
              <a:srgbClr val="E5E7EB"/>
            </a:solidFill>
            <a:prstDash val="solid"/>
          </a:ln>
        </p:spPr>
      </p:sp>
      <p:sp>
        <p:nvSpPr>
          <p:cNvPr id="20" name="Text 18"/>
          <p:cNvSpPr/>
          <p:nvPr/>
        </p:nvSpPr>
        <p:spPr>
          <a:xfrm>
            <a:off x="5879592" y="3419856"/>
            <a:ext cx="1088136" cy="384048"/>
          </a:xfrm>
          <a:prstGeom prst="rect">
            <a:avLst/>
          </a:prstGeom>
          <a:noFill/>
          <a:ln/>
        </p:spPr>
        <p:txBody>
          <a:bodyPr wrap="square" lIns="0" tIns="0" rIns="0" bIns="0" rtlCol="0" anchor="ctr"/>
          <a:lstStyle/>
          <a:p>
            <a:pPr algn="ctr" indent="0" marL="0">
              <a:buNone/>
            </a:pPr>
            <a:r>
              <a:rPr lang="en-US" sz="2300" b="1" dirty="0">
                <a:solidFill>
                  <a:srgbClr val="1B4332"/>
                </a:solidFill>
                <a:latin typeface="Aptos Display" pitchFamily="34" charset="0"/>
                <a:ea typeface="Aptos Display" pitchFamily="34" charset="-122"/>
                <a:cs typeface="Aptos Display" pitchFamily="34" charset="-120"/>
              </a:rPr>
              <a:t>2.525</a:t>
            </a:r>
            <a:endParaRPr lang="en-US" sz="2300" dirty="0"/>
          </a:p>
        </p:txBody>
      </p:sp>
      <p:sp>
        <p:nvSpPr>
          <p:cNvPr id="21" name="Text 19"/>
          <p:cNvSpPr/>
          <p:nvPr/>
        </p:nvSpPr>
        <p:spPr>
          <a:xfrm>
            <a:off x="5879592" y="3877056"/>
            <a:ext cx="1088136" cy="246888"/>
          </a:xfrm>
          <a:prstGeom prst="rect">
            <a:avLst/>
          </a:prstGeom>
          <a:noFill/>
          <a:ln/>
        </p:spPr>
        <p:txBody>
          <a:bodyPr wrap="square" lIns="254" tIns="254" rIns="254" bIns="254" rtlCol="0" anchor="ctr"/>
          <a:lstStyle/>
          <a:p>
            <a:pPr algn="ctr" indent="0" marL="0">
              <a:buNone/>
            </a:pPr>
            <a:r>
              <a:rPr lang="en-US" sz="1050" dirty="0">
                <a:solidFill>
                  <a:srgbClr val="334155"/>
                </a:solidFill>
                <a:latin typeface="Aptos" pitchFamily="34" charset="0"/>
                <a:ea typeface="Aptos" pitchFamily="34" charset="-122"/>
                <a:cs typeface="Aptos" pitchFamily="34" charset="-120"/>
              </a:rPr>
              <a:t>RF test MAE</a:t>
            </a:r>
            <a:endParaRPr lang="en-US" sz="1050" dirty="0"/>
          </a:p>
        </p:txBody>
      </p:sp>
      <p:sp>
        <p:nvSpPr>
          <p:cNvPr id="22" name="Shape 20"/>
          <p:cNvSpPr/>
          <p:nvPr/>
        </p:nvSpPr>
        <p:spPr>
          <a:xfrm>
            <a:off x="7360920" y="3273552"/>
            <a:ext cx="1417320" cy="960120"/>
          </a:xfrm>
          <a:prstGeom prst="roundRect">
            <a:avLst>
              <a:gd name="adj" fmla="val 11429"/>
            </a:avLst>
          </a:prstGeom>
          <a:solidFill>
            <a:srgbClr val="FFFFFF"/>
          </a:solidFill>
          <a:ln w="12700">
            <a:solidFill>
              <a:srgbClr val="E5E7EB"/>
            </a:solidFill>
            <a:prstDash val="solid"/>
          </a:ln>
        </p:spPr>
      </p:sp>
      <p:sp>
        <p:nvSpPr>
          <p:cNvPr id="23" name="Text 21"/>
          <p:cNvSpPr/>
          <p:nvPr/>
        </p:nvSpPr>
        <p:spPr>
          <a:xfrm>
            <a:off x="7525512" y="3419856"/>
            <a:ext cx="1088136" cy="384048"/>
          </a:xfrm>
          <a:prstGeom prst="rect">
            <a:avLst/>
          </a:prstGeom>
          <a:noFill/>
          <a:ln/>
        </p:spPr>
        <p:txBody>
          <a:bodyPr wrap="square" lIns="0" tIns="0" rIns="0" bIns="0" rtlCol="0" anchor="ctr"/>
          <a:lstStyle/>
          <a:p>
            <a:pPr algn="ctr" indent="0" marL="0">
              <a:buNone/>
            </a:pPr>
            <a:r>
              <a:rPr lang="en-US" sz="2300" b="1" dirty="0">
                <a:solidFill>
                  <a:srgbClr val="2563EB"/>
                </a:solidFill>
                <a:latin typeface="Aptos Display" pitchFamily="34" charset="0"/>
                <a:ea typeface="Aptos Display" pitchFamily="34" charset="-122"/>
                <a:cs typeface="Aptos Display" pitchFamily="34" charset="-120"/>
              </a:rPr>
              <a:t>2.922</a:t>
            </a:r>
            <a:endParaRPr lang="en-US" sz="2300" dirty="0"/>
          </a:p>
        </p:txBody>
      </p:sp>
      <p:sp>
        <p:nvSpPr>
          <p:cNvPr id="24" name="Text 22"/>
          <p:cNvSpPr/>
          <p:nvPr/>
        </p:nvSpPr>
        <p:spPr>
          <a:xfrm>
            <a:off x="7525512" y="3877056"/>
            <a:ext cx="1088136" cy="246888"/>
          </a:xfrm>
          <a:prstGeom prst="rect">
            <a:avLst/>
          </a:prstGeom>
          <a:noFill/>
          <a:ln/>
        </p:spPr>
        <p:txBody>
          <a:bodyPr wrap="square" lIns="254" tIns="254" rIns="254" bIns="254" rtlCol="0" anchor="ctr"/>
          <a:lstStyle/>
          <a:p>
            <a:pPr algn="ctr" indent="0" marL="0">
              <a:buNone/>
            </a:pPr>
            <a:r>
              <a:rPr lang="en-US" sz="1050" dirty="0">
                <a:solidFill>
                  <a:srgbClr val="334155"/>
                </a:solidFill>
                <a:latin typeface="Aptos" pitchFamily="34" charset="0"/>
                <a:ea typeface="Aptos" pitchFamily="34" charset="-122"/>
                <a:cs typeface="Aptos" pitchFamily="34" charset="-120"/>
              </a:rPr>
              <a:t>XGB test RMSE</a:t>
            </a:r>
            <a:endParaRPr lang="en-US" sz="1050" dirty="0"/>
          </a:p>
        </p:txBody>
      </p:sp>
      <p:sp>
        <p:nvSpPr>
          <p:cNvPr id="25" name="Shape 23"/>
          <p:cNvSpPr/>
          <p:nvPr/>
        </p:nvSpPr>
        <p:spPr>
          <a:xfrm>
            <a:off x="9006840" y="3273552"/>
            <a:ext cx="1417320" cy="960120"/>
          </a:xfrm>
          <a:prstGeom prst="roundRect">
            <a:avLst>
              <a:gd name="adj" fmla="val 11429"/>
            </a:avLst>
          </a:prstGeom>
          <a:solidFill>
            <a:srgbClr val="FFFFFF"/>
          </a:solidFill>
          <a:ln w="12700">
            <a:solidFill>
              <a:srgbClr val="E5E7EB"/>
            </a:solidFill>
            <a:prstDash val="solid"/>
          </a:ln>
        </p:spPr>
      </p:sp>
      <p:sp>
        <p:nvSpPr>
          <p:cNvPr id="26" name="Text 24"/>
          <p:cNvSpPr/>
          <p:nvPr/>
        </p:nvSpPr>
        <p:spPr>
          <a:xfrm>
            <a:off x="9171432" y="3419856"/>
            <a:ext cx="1088136" cy="384048"/>
          </a:xfrm>
          <a:prstGeom prst="rect">
            <a:avLst/>
          </a:prstGeom>
          <a:noFill/>
          <a:ln/>
        </p:spPr>
        <p:txBody>
          <a:bodyPr wrap="square" lIns="0" tIns="0" rIns="0" bIns="0" rtlCol="0" anchor="ctr"/>
          <a:lstStyle/>
          <a:p>
            <a:pPr algn="ctr" indent="0" marL="0">
              <a:buNone/>
            </a:pPr>
            <a:r>
              <a:rPr lang="en-US" sz="2300" b="1" dirty="0">
                <a:solidFill>
                  <a:srgbClr val="DC2626"/>
                </a:solidFill>
                <a:latin typeface="Aptos Display" pitchFamily="34" charset="0"/>
                <a:ea typeface="Aptos Display" pitchFamily="34" charset="-122"/>
                <a:cs typeface="Aptos Display" pitchFamily="34" charset="-120"/>
              </a:rPr>
              <a:t>0.009</a:t>
            </a:r>
            <a:endParaRPr lang="en-US" sz="2300" dirty="0"/>
          </a:p>
        </p:txBody>
      </p:sp>
      <p:sp>
        <p:nvSpPr>
          <p:cNvPr id="27" name="Text 25"/>
          <p:cNvSpPr/>
          <p:nvPr/>
        </p:nvSpPr>
        <p:spPr>
          <a:xfrm>
            <a:off x="9171432" y="3877056"/>
            <a:ext cx="1088136" cy="246888"/>
          </a:xfrm>
          <a:prstGeom prst="rect">
            <a:avLst/>
          </a:prstGeom>
          <a:noFill/>
          <a:ln/>
        </p:spPr>
        <p:txBody>
          <a:bodyPr wrap="square" lIns="254" tIns="254" rIns="254" bIns="254" rtlCol="0" anchor="ctr"/>
          <a:lstStyle/>
          <a:p>
            <a:pPr algn="ctr" indent="0" marL="0">
              <a:buNone/>
            </a:pPr>
            <a:r>
              <a:rPr lang="en-US" sz="1050" dirty="0">
                <a:solidFill>
                  <a:srgbClr val="334155"/>
                </a:solidFill>
                <a:latin typeface="Aptos" pitchFamily="34" charset="0"/>
                <a:ea typeface="Aptos" pitchFamily="34" charset="-122"/>
                <a:cs typeface="Aptos" pitchFamily="34" charset="-120"/>
              </a:rPr>
              <a:t>best test R²</a:t>
            </a:r>
            <a:endParaRPr lang="en-US" sz="1050" dirty="0"/>
          </a:p>
        </p:txBody>
      </p:sp>
      <p:sp>
        <p:nvSpPr>
          <p:cNvPr id="28" name="Shape 26"/>
          <p:cNvSpPr/>
          <p:nvPr/>
        </p:nvSpPr>
        <p:spPr>
          <a:xfrm>
            <a:off x="658368" y="5074920"/>
            <a:ext cx="10607040" cy="603504"/>
          </a:xfrm>
          <a:prstGeom prst="roundRect">
            <a:avLst>
              <a:gd name="adj" fmla="val 18182"/>
            </a:avLst>
          </a:prstGeom>
          <a:solidFill>
            <a:srgbClr val="E9F5EE"/>
          </a:solidFill>
          <a:ln w="15240">
            <a:solidFill>
              <a:srgbClr val="1B4332"/>
            </a:solidFill>
            <a:prstDash val="solid"/>
          </a:ln>
        </p:spPr>
      </p:sp>
      <p:sp>
        <p:nvSpPr>
          <p:cNvPr id="29" name="Text 27"/>
          <p:cNvSpPr/>
          <p:nvPr/>
        </p:nvSpPr>
        <p:spPr>
          <a:xfrm>
            <a:off x="822960" y="5193792"/>
            <a:ext cx="10277856" cy="402336"/>
          </a:xfrm>
          <a:prstGeom prst="rect">
            <a:avLst/>
          </a:prstGeom>
          <a:noFill/>
          <a:ln/>
        </p:spPr>
        <p:txBody>
          <a:bodyPr wrap="square" lIns="254" tIns="254" rIns="254" bIns="254" rtlCol="0" anchor="ctr">
            <a:normAutofit/>
          </a:bodyPr>
          <a:lstStyle/>
          <a:p>
            <a:pPr indent="0" marL="0">
              <a:buNone/>
            </a:pPr>
            <a:r>
              <a:rPr lang="en-US" sz="1300" dirty="0">
                <a:solidFill>
                  <a:srgbClr val="334155"/>
                </a:solidFill>
                <a:latin typeface="Aptos" pitchFamily="34" charset="0"/>
                <a:ea typeface="Aptos" pitchFamily="34" charset="-122"/>
                <a:cs typeface="Aptos" pitchFamily="34" charset="-120"/>
              </a:rPr>
              <a:t>Business implication: deploy only as a proof of concept, while improving the data foundation for a future production tool.</a:t>
            </a:r>
            <a:endParaRPr lang="en-US" sz="1300" dirty="0"/>
          </a:p>
        </p:txBody>
      </p:sp>
      <p:sp>
        <p:nvSpPr>
          <p:cNvPr id="30" name="Text 28"/>
          <p:cNvSpPr/>
          <p:nvPr/>
        </p:nvSpPr>
        <p:spPr>
          <a:xfrm>
            <a:off x="11109960" y="6446520"/>
            <a:ext cx="548640" cy="201168"/>
          </a:xfrm>
          <a:prstGeom prst="rect">
            <a:avLst/>
          </a:prstGeom>
          <a:noFill/>
          <a:ln/>
        </p:spPr>
        <p:txBody>
          <a:bodyPr wrap="square" lIns="0" tIns="0" rIns="0" bIns="0" rtlCol="0" anchor="ctr"/>
          <a:lstStyle/>
          <a:p>
            <a:pPr algn="r" indent="0" marL="0">
              <a:buNone/>
            </a:pPr>
            <a:r>
              <a:rPr lang="en-US" sz="900" dirty="0">
                <a:solidFill>
                  <a:srgbClr val="94A3B8"/>
                </a:solidFill>
                <a:latin typeface="Aptos" pitchFamily="34" charset="0"/>
                <a:ea typeface="Aptos" pitchFamily="34" charset="-122"/>
                <a:cs typeface="Aptos"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2E8"/>
        </a:solidFill>
      </p:bgPr>
    </p:bg>
    <p:spTree>
      <p:nvGrpSpPr>
        <p:cNvPr id="1" name=""/>
        <p:cNvGrpSpPr/>
        <p:nvPr/>
      </p:nvGrpSpPr>
      <p:grpSpPr>
        <a:xfrm>
          <a:off x="0" y="0"/>
          <a:ext cx="0" cy="0"/>
          <a:chOff x="0" y="0"/>
          <a:chExt cx="0" cy="0"/>
        </a:xfrm>
      </p:grpSpPr>
      <p:sp>
        <p:nvSpPr>
          <p:cNvPr id="2" name="Text 0"/>
          <p:cNvSpPr/>
          <p:nvPr/>
        </p:nvSpPr>
        <p:spPr>
          <a:xfrm>
            <a:off x="502920" y="329184"/>
            <a:ext cx="7406640" cy="329184"/>
          </a:xfrm>
          <a:prstGeom prst="rect">
            <a:avLst/>
          </a:prstGeom>
          <a:noFill/>
          <a:ln/>
        </p:spPr>
        <p:txBody>
          <a:bodyPr wrap="square" lIns="0" tIns="0" rIns="0" bIns="0" rtlCol="0" anchor="ctr"/>
          <a:lstStyle/>
          <a:p>
            <a:pPr indent="0" marL="0">
              <a:buNone/>
            </a:pPr>
            <a:r>
              <a:rPr lang="en-US" sz="2300" b="1" dirty="0">
                <a:solidFill>
                  <a:srgbClr val="1B4332"/>
                </a:solidFill>
                <a:latin typeface="Aptos Display" pitchFamily="34" charset="0"/>
                <a:ea typeface="Aptos Display" pitchFamily="34" charset="-122"/>
                <a:cs typeface="Aptos Display" pitchFamily="34" charset="-120"/>
              </a:rPr>
              <a:t>What we built from start to finish</a:t>
            </a:r>
            <a:endParaRPr lang="en-US" sz="2300" dirty="0"/>
          </a:p>
        </p:txBody>
      </p:sp>
      <p:sp>
        <p:nvSpPr>
          <p:cNvPr id="3" name="Text 1"/>
          <p:cNvSpPr/>
          <p:nvPr/>
        </p:nvSpPr>
        <p:spPr>
          <a:xfrm>
            <a:off x="8549640" y="384048"/>
            <a:ext cx="3291840" cy="219456"/>
          </a:xfrm>
          <a:prstGeom prst="rect">
            <a:avLst/>
          </a:prstGeom>
          <a:noFill/>
          <a:ln/>
        </p:spPr>
        <p:txBody>
          <a:bodyPr wrap="square" lIns="0" tIns="0" rIns="0" bIns="0" rtlCol="0" anchor="ctr"/>
          <a:lstStyle/>
          <a:p>
            <a:pPr algn="r" indent="0" marL="0">
              <a:buNone/>
            </a:pPr>
            <a:r>
              <a:rPr lang="en-US" sz="950" dirty="0">
                <a:solidFill>
                  <a:srgbClr val="64748B"/>
                </a:solidFill>
                <a:latin typeface="Aptos" pitchFamily="34" charset="0"/>
                <a:ea typeface="Aptos" pitchFamily="34" charset="-122"/>
                <a:cs typeface="Aptos" pitchFamily="34" charset="-120"/>
              </a:rPr>
              <a:t>Gamma 2 • Crop Yield Prediction</a:t>
            </a:r>
            <a:endParaRPr lang="en-US" sz="950" dirty="0"/>
          </a:p>
        </p:txBody>
      </p:sp>
      <p:sp>
        <p:nvSpPr>
          <p:cNvPr id="4" name="Shape 2"/>
          <p:cNvSpPr/>
          <p:nvPr/>
        </p:nvSpPr>
        <p:spPr>
          <a:xfrm>
            <a:off x="502920" y="768096"/>
            <a:ext cx="11201400" cy="0"/>
          </a:xfrm>
          <a:prstGeom prst="line">
            <a:avLst/>
          </a:prstGeom>
          <a:noFill/>
          <a:ln w="12700">
            <a:solidFill>
              <a:srgbClr val="E2E8F0"/>
            </a:solidFill>
            <a:prstDash val="solid"/>
          </a:ln>
        </p:spPr>
      </p:sp>
      <p:sp>
        <p:nvSpPr>
          <p:cNvPr id="5" name="Shape 3"/>
          <p:cNvSpPr/>
          <p:nvPr/>
        </p:nvSpPr>
        <p:spPr>
          <a:xfrm>
            <a:off x="594360" y="1508760"/>
            <a:ext cx="1874520" cy="2377440"/>
          </a:xfrm>
          <a:prstGeom prst="roundRect">
            <a:avLst>
              <a:gd name="adj" fmla="val 8780"/>
            </a:avLst>
          </a:prstGeom>
          <a:solidFill>
            <a:srgbClr val="FFFFFF"/>
          </a:solidFill>
          <a:ln w="12700">
            <a:solidFill>
              <a:srgbClr val="E5E7EB"/>
            </a:solidFill>
            <a:prstDash val="solid"/>
          </a:ln>
        </p:spPr>
      </p:sp>
      <p:sp>
        <p:nvSpPr>
          <p:cNvPr id="6" name="Text 4"/>
          <p:cNvSpPr/>
          <p:nvPr/>
        </p:nvSpPr>
        <p:spPr>
          <a:xfrm>
            <a:off x="740664" y="1719072"/>
            <a:ext cx="384048" cy="384048"/>
          </a:xfrm>
          <a:prstGeom prst="rect">
            <a:avLst/>
          </a:prstGeom>
          <a:noFill/>
          <a:ln/>
        </p:spPr>
        <p:txBody>
          <a:bodyPr wrap="square" lIns="0" tIns="0" rIns="0" bIns="0" rtlCol="0" anchor="ctr"/>
          <a:lstStyle/>
          <a:p>
            <a:pPr algn="ctr" indent="0" marL="0">
              <a:buNone/>
            </a:pPr>
            <a:r>
              <a:rPr lang="en-US" sz="2000" b="1" dirty="0">
                <a:solidFill>
                  <a:srgbClr val="D97706"/>
                </a:solidFill>
                <a:latin typeface="Aptos Display" pitchFamily="34" charset="0"/>
                <a:ea typeface="Aptos Display" pitchFamily="34" charset="-122"/>
                <a:cs typeface="Aptos Display" pitchFamily="34" charset="-120"/>
              </a:rPr>
              <a:t>1</a:t>
            </a:r>
            <a:endParaRPr lang="en-US" sz="2000" dirty="0"/>
          </a:p>
        </p:txBody>
      </p:sp>
      <p:sp>
        <p:nvSpPr>
          <p:cNvPr id="7" name="Text 5"/>
          <p:cNvSpPr/>
          <p:nvPr/>
        </p:nvSpPr>
        <p:spPr>
          <a:xfrm>
            <a:off x="777240" y="2212848"/>
            <a:ext cx="1508760" cy="292608"/>
          </a:xfrm>
          <a:prstGeom prst="rect">
            <a:avLst/>
          </a:prstGeom>
          <a:noFill/>
          <a:ln/>
        </p:spPr>
        <p:txBody>
          <a:bodyPr wrap="square" lIns="0" tIns="0" rIns="0" bIns="0" rtlCol="0" anchor="ctr"/>
          <a:lstStyle/>
          <a:p>
            <a:pPr indent="0" marL="0">
              <a:buNone/>
            </a:pPr>
            <a:r>
              <a:rPr lang="en-US" sz="1900" b="1" dirty="0">
                <a:solidFill>
                  <a:srgbClr val="334155"/>
                </a:solidFill>
                <a:latin typeface="Aptos Display" pitchFamily="34" charset="0"/>
                <a:ea typeface="Aptos Display" pitchFamily="34" charset="-122"/>
                <a:cs typeface="Aptos Display" pitchFamily="34" charset="-120"/>
              </a:rPr>
              <a:t>Clean</a:t>
            </a:r>
            <a:endParaRPr lang="en-US" sz="1900" dirty="0"/>
          </a:p>
        </p:txBody>
      </p:sp>
      <p:sp>
        <p:nvSpPr>
          <p:cNvPr id="8" name="Text 6"/>
          <p:cNvSpPr/>
          <p:nvPr/>
        </p:nvSpPr>
        <p:spPr>
          <a:xfrm>
            <a:off x="777240" y="2761488"/>
            <a:ext cx="1508760" cy="502920"/>
          </a:xfrm>
          <a:prstGeom prst="rect">
            <a:avLst/>
          </a:prstGeom>
          <a:noFill/>
          <a:ln/>
        </p:spPr>
        <p:txBody>
          <a:bodyPr wrap="square" lIns="0" tIns="0" rIns="0" bIns="0" rtlCol="0" anchor="ctr">
            <a:normAutofit/>
          </a:bodyPr>
          <a:lstStyle/>
          <a:p>
            <a:pPr indent="0" marL="0">
              <a:buNone/>
            </a:pPr>
            <a:r>
              <a:rPr lang="en-US" sz="1240" dirty="0">
                <a:solidFill>
                  <a:srgbClr val="64748B"/>
                </a:solidFill>
                <a:latin typeface="Aptos" pitchFamily="34" charset="0"/>
                <a:ea typeface="Aptos" pitchFamily="34" charset="-122"/>
                <a:cs typeface="Aptos" pitchFamily="34" charset="-120"/>
              </a:rPr>
              <a:t>1000 → 999 records</a:t>
            </a:r>
            <a:endParaRPr lang="en-US" sz="1240" dirty="0"/>
          </a:p>
        </p:txBody>
      </p:sp>
      <p:sp>
        <p:nvSpPr>
          <p:cNvPr id="9" name="Text 7"/>
          <p:cNvSpPr/>
          <p:nvPr/>
        </p:nvSpPr>
        <p:spPr>
          <a:xfrm>
            <a:off x="2523744" y="2340864"/>
            <a:ext cx="237744" cy="320040"/>
          </a:xfrm>
          <a:prstGeom prst="rect">
            <a:avLst/>
          </a:prstGeom>
          <a:noFill/>
          <a:ln/>
        </p:spPr>
        <p:txBody>
          <a:bodyPr wrap="square" lIns="0" tIns="0" rIns="0" bIns="0" rtlCol="0" anchor="ctr"/>
          <a:lstStyle/>
          <a:p>
            <a:pPr algn="ctr" indent="0" marL="0">
              <a:buNone/>
            </a:pPr>
            <a:r>
              <a:rPr lang="en-US" sz="2500" b="1" dirty="0">
                <a:solidFill>
                  <a:srgbClr val="2D6A4F"/>
                </a:solidFill>
                <a:latin typeface="Aptos Display" pitchFamily="34" charset="0"/>
                <a:ea typeface="Aptos Display" pitchFamily="34" charset="-122"/>
                <a:cs typeface="Aptos Display" pitchFamily="34" charset="-120"/>
              </a:rPr>
              <a:t>→</a:t>
            </a:r>
            <a:endParaRPr lang="en-US" sz="2500" dirty="0"/>
          </a:p>
        </p:txBody>
      </p:sp>
      <p:sp>
        <p:nvSpPr>
          <p:cNvPr id="10" name="Shape 8"/>
          <p:cNvSpPr/>
          <p:nvPr/>
        </p:nvSpPr>
        <p:spPr>
          <a:xfrm>
            <a:off x="2834640" y="1508760"/>
            <a:ext cx="1874520" cy="2377440"/>
          </a:xfrm>
          <a:prstGeom prst="roundRect">
            <a:avLst>
              <a:gd name="adj" fmla="val 8780"/>
            </a:avLst>
          </a:prstGeom>
          <a:solidFill>
            <a:srgbClr val="FFFFFF"/>
          </a:solidFill>
          <a:ln w="12700">
            <a:solidFill>
              <a:srgbClr val="E5E7EB"/>
            </a:solidFill>
            <a:prstDash val="solid"/>
          </a:ln>
        </p:spPr>
      </p:sp>
      <p:sp>
        <p:nvSpPr>
          <p:cNvPr id="11" name="Text 9"/>
          <p:cNvSpPr/>
          <p:nvPr/>
        </p:nvSpPr>
        <p:spPr>
          <a:xfrm>
            <a:off x="2980944" y="1719072"/>
            <a:ext cx="384048" cy="384048"/>
          </a:xfrm>
          <a:prstGeom prst="rect">
            <a:avLst/>
          </a:prstGeom>
          <a:noFill/>
          <a:ln/>
        </p:spPr>
        <p:txBody>
          <a:bodyPr wrap="square" lIns="0" tIns="0" rIns="0" bIns="0" rtlCol="0" anchor="ctr"/>
          <a:lstStyle/>
          <a:p>
            <a:pPr algn="ctr" indent="0" marL="0">
              <a:buNone/>
            </a:pPr>
            <a:r>
              <a:rPr lang="en-US" sz="2000" b="1" dirty="0">
                <a:solidFill>
                  <a:srgbClr val="D97706"/>
                </a:solidFill>
                <a:latin typeface="Aptos Display" pitchFamily="34" charset="0"/>
                <a:ea typeface="Aptos Display" pitchFamily="34" charset="-122"/>
                <a:cs typeface="Aptos Display" pitchFamily="34" charset="-120"/>
              </a:rPr>
              <a:t>2</a:t>
            </a:r>
            <a:endParaRPr lang="en-US" sz="2000" dirty="0"/>
          </a:p>
        </p:txBody>
      </p:sp>
      <p:sp>
        <p:nvSpPr>
          <p:cNvPr id="12" name="Text 10"/>
          <p:cNvSpPr/>
          <p:nvPr/>
        </p:nvSpPr>
        <p:spPr>
          <a:xfrm>
            <a:off x="3017520" y="2212848"/>
            <a:ext cx="1508760" cy="292608"/>
          </a:xfrm>
          <a:prstGeom prst="rect">
            <a:avLst/>
          </a:prstGeom>
          <a:noFill/>
          <a:ln/>
        </p:spPr>
        <p:txBody>
          <a:bodyPr wrap="square" lIns="0" tIns="0" rIns="0" bIns="0" rtlCol="0" anchor="ctr"/>
          <a:lstStyle/>
          <a:p>
            <a:pPr indent="0" marL="0">
              <a:buNone/>
            </a:pPr>
            <a:r>
              <a:rPr lang="en-US" sz="1900" b="1" dirty="0">
                <a:solidFill>
                  <a:srgbClr val="334155"/>
                </a:solidFill>
                <a:latin typeface="Aptos Display" pitchFamily="34" charset="0"/>
                <a:ea typeface="Aptos Display" pitchFamily="34" charset="-122"/>
                <a:cs typeface="Aptos Display" pitchFamily="34" charset="-120"/>
              </a:rPr>
              <a:t>Explore</a:t>
            </a:r>
            <a:endParaRPr lang="en-US" sz="1900" dirty="0"/>
          </a:p>
        </p:txBody>
      </p:sp>
      <p:sp>
        <p:nvSpPr>
          <p:cNvPr id="13" name="Text 11"/>
          <p:cNvSpPr/>
          <p:nvPr/>
        </p:nvSpPr>
        <p:spPr>
          <a:xfrm>
            <a:off x="3017520" y="2761488"/>
            <a:ext cx="1508760" cy="502920"/>
          </a:xfrm>
          <a:prstGeom prst="rect">
            <a:avLst/>
          </a:prstGeom>
          <a:noFill/>
          <a:ln/>
        </p:spPr>
        <p:txBody>
          <a:bodyPr wrap="square" lIns="0" tIns="0" rIns="0" bIns="0" rtlCol="0" anchor="ctr">
            <a:normAutofit/>
          </a:bodyPr>
          <a:lstStyle/>
          <a:p>
            <a:pPr indent="0" marL="0">
              <a:buNone/>
            </a:pPr>
            <a:r>
              <a:rPr lang="en-US" sz="1240" dirty="0">
                <a:solidFill>
                  <a:srgbClr val="64748B"/>
                </a:solidFill>
                <a:latin typeface="Aptos" pitchFamily="34" charset="0"/>
                <a:ea typeface="Aptos" pitchFamily="34" charset="-122"/>
                <a:cs typeface="Aptos" pitchFamily="34" charset="-120"/>
              </a:rPr>
              <a:t>weak yield signals</a:t>
            </a:r>
            <a:endParaRPr lang="en-US" sz="1240" dirty="0"/>
          </a:p>
        </p:txBody>
      </p:sp>
      <p:sp>
        <p:nvSpPr>
          <p:cNvPr id="14" name="Text 12"/>
          <p:cNvSpPr/>
          <p:nvPr/>
        </p:nvSpPr>
        <p:spPr>
          <a:xfrm>
            <a:off x="4764024" y="2340864"/>
            <a:ext cx="237744" cy="320040"/>
          </a:xfrm>
          <a:prstGeom prst="rect">
            <a:avLst/>
          </a:prstGeom>
          <a:noFill/>
          <a:ln/>
        </p:spPr>
        <p:txBody>
          <a:bodyPr wrap="square" lIns="0" tIns="0" rIns="0" bIns="0" rtlCol="0" anchor="ctr"/>
          <a:lstStyle/>
          <a:p>
            <a:pPr algn="ctr" indent="0" marL="0">
              <a:buNone/>
            </a:pPr>
            <a:r>
              <a:rPr lang="en-US" sz="2500" b="1" dirty="0">
                <a:solidFill>
                  <a:srgbClr val="2D6A4F"/>
                </a:solidFill>
                <a:latin typeface="Aptos Display" pitchFamily="34" charset="0"/>
                <a:ea typeface="Aptos Display" pitchFamily="34" charset="-122"/>
                <a:cs typeface="Aptos Display" pitchFamily="34" charset="-120"/>
              </a:rPr>
              <a:t>→</a:t>
            </a:r>
            <a:endParaRPr lang="en-US" sz="2500" dirty="0"/>
          </a:p>
        </p:txBody>
      </p:sp>
      <p:sp>
        <p:nvSpPr>
          <p:cNvPr id="15" name="Shape 13"/>
          <p:cNvSpPr/>
          <p:nvPr/>
        </p:nvSpPr>
        <p:spPr>
          <a:xfrm>
            <a:off x="5074920" y="1508760"/>
            <a:ext cx="1874520" cy="2377440"/>
          </a:xfrm>
          <a:prstGeom prst="roundRect">
            <a:avLst>
              <a:gd name="adj" fmla="val 8780"/>
            </a:avLst>
          </a:prstGeom>
          <a:solidFill>
            <a:srgbClr val="FFFFFF"/>
          </a:solidFill>
          <a:ln w="12700">
            <a:solidFill>
              <a:srgbClr val="E5E7EB"/>
            </a:solidFill>
            <a:prstDash val="solid"/>
          </a:ln>
        </p:spPr>
      </p:sp>
      <p:sp>
        <p:nvSpPr>
          <p:cNvPr id="16" name="Text 14"/>
          <p:cNvSpPr/>
          <p:nvPr/>
        </p:nvSpPr>
        <p:spPr>
          <a:xfrm>
            <a:off x="5221224" y="1719072"/>
            <a:ext cx="384048" cy="384048"/>
          </a:xfrm>
          <a:prstGeom prst="rect">
            <a:avLst/>
          </a:prstGeom>
          <a:noFill/>
          <a:ln/>
        </p:spPr>
        <p:txBody>
          <a:bodyPr wrap="square" lIns="0" tIns="0" rIns="0" bIns="0" rtlCol="0" anchor="ctr"/>
          <a:lstStyle/>
          <a:p>
            <a:pPr algn="ctr" indent="0" marL="0">
              <a:buNone/>
            </a:pPr>
            <a:r>
              <a:rPr lang="en-US" sz="2000" b="1" dirty="0">
                <a:solidFill>
                  <a:srgbClr val="D97706"/>
                </a:solidFill>
                <a:latin typeface="Aptos Display" pitchFamily="34" charset="0"/>
                <a:ea typeface="Aptos Display" pitchFamily="34" charset="-122"/>
                <a:cs typeface="Aptos Display" pitchFamily="34" charset="-120"/>
              </a:rPr>
              <a:t>3</a:t>
            </a:r>
            <a:endParaRPr lang="en-US" sz="2000" dirty="0"/>
          </a:p>
        </p:txBody>
      </p:sp>
      <p:sp>
        <p:nvSpPr>
          <p:cNvPr id="17" name="Text 15"/>
          <p:cNvSpPr/>
          <p:nvPr/>
        </p:nvSpPr>
        <p:spPr>
          <a:xfrm>
            <a:off x="5257800" y="2212848"/>
            <a:ext cx="1508760" cy="292608"/>
          </a:xfrm>
          <a:prstGeom prst="rect">
            <a:avLst/>
          </a:prstGeom>
          <a:noFill/>
          <a:ln/>
        </p:spPr>
        <p:txBody>
          <a:bodyPr wrap="square" lIns="0" tIns="0" rIns="0" bIns="0" rtlCol="0" anchor="ctr"/>
          <a:lstStyle/>
          <a:p>
            <a:pPr indent="0" marL="0">
              <a:buNone/>
            </a:pPr>
            <a:r>
              <a:rPr lang="en-US" sz="1900" b="1" dirty="0">
                <a:solidFill>
                  <a:srgbClr val="334155"/>
                </a:solidFill>
                <a:latin typeface="Aptos Display" pitchFamily="34" charset="0"/>
                <a:ea typeface="Aptos Display" pitchFamily="34" charset="-122"/>
                <a:cs typeface="Aptos Display" pitchFamily="34" charset="-120"/>
              </a:rPr>
              <a:t>Engineer</a:t>
            </a:r>
            <a:endParaRPr lang="en-US" sz="1900" dirty="0"/>
          </a:p>
        </p:txBody>
      </p:sp>
      <p:sp>
        <p:nvSpPr>
          <p:cNvPr id="18" name="Text 16"/>
          <p:cNvSpPr/>
          <p:nvPr/>
        </p:nvSpPr>
        <p:spPr>
          <a:xfrm>
            <a:off x="5257800" y="2761488"/>
            <a:ext cx="1508760" cy="502920"/>
          </a:xfrm>
          <a:prstGeom prst="rect">
            <a:avLst/>
          </a:prstGeom>
          <a:noFill/>
          <a:ln/>
        </p:spPr>
        <p:txBody>
          <a:bodyPr wrap="square" lIns="0" tIns="0" rIns="0" bIns="0" rtlCol="0" anchor="ctr">
            <a:normAutofit/>
          </a:bodyPr>
          <a:lstStyle/>
          <a:p>
            <a:pPr indent="0" marL="0">
              <a:buNone/>
            </a:pPr>
            <a:r>
              <a:rPr lang="en-US" sz="1240" dirty="0">
                <a:solidFill>
                  <a:srgbClr val="64748B"/>
                </a:solidFill>
                <a:latin typeface="Aptos" pitchFamily="34" charset="0"/>
                <a:ea typeface="Aptos" pitchFamily="34" charset="-122"/>
                <a:cs typeface="Aptos" pitchFamily="34" charset="-120"/>
              </a:rPr>
              <a:t>5 agronomic features</a:t>
            </a:r>
            <a:endParaRPr lang="en-US" sz="1240" dirty="0"/>
          </a:p>
        </p:txBody>
      </p:sp>
      <p:sp>
        <p:nvSpPr>
          <p:cNvPr id="19" name="Text 17"/>
          <p:cNvSpPr/>
          <p:nvPr/>
        </p:nvSpPr>
        <p:spPr>
          <a:xfrm>
            <a:off x="7004304" y="2340864"/>
            <a:ext cx="237744" cy="320040"/>
          </a:xfrm>
          <a:prstGeom prst="rect">
            <a:avLst/>
          </a:prstGeom>
          <a:noFill/>
          <a:ln/>
        </p:spPr>
        <p:txBody>
          <a:bodyPr wrap="square" lIns="0" tIns="0" rIns="0" bIns="0" rtlCol="0" anchor="ctr"/>
          <a:lstStyle/>
          <a:p>
            <a:pPr algn="ctr" indent="0" marL="0">
              <a:buNone/>
            </a:pPr>
            <a:r>
              <a:rPr lang="en-US" sz="2500" b="1" dirty="0">
                <a:solidFill>
                  <a:srgbClr val="2D6A4F"/>
                </a:solidFill>
                <a:latin typeface="Aptos Display" pitchFamily="34" charset="0"/>
                <a:ea typeface="Aptos Display" pitchFamily="34" charset="-122"/>
                <a:cs typeface="Aptos Display" pitchFamily="34" charset="-120"/>
              </a:rPr>
              <a:t>→</a:t>
            </a:r>
            <a:endParaRPr lang="en-US" sz="2500" dirty="0"/>
          </a:p>
        </p:txBody>
      </p:sp>
      <p:sp>
        <p:nvSpPr>
          <p:cNvPr id="20" name="Shape 18"/>
          <p:cNvSpPr/>
          <p:nvPr/>
        </p:nvSpPr>
        <p:spPr>
          <a:xfrm>
            <a:off x="7315200" y="1508760"/>
            <a:ext cx="1874520" cy="2377440"/>
          </a:xfrm>
          <a:prstGeom prst="roundRect">
            <a:avLst>
              <a:gd name="adj" fmla="val 8780"/>
            </a:avLst>
          </a:prstGeom>
          <a:solidFill>
            <a:srgbClr val="FFFFFF"/>
          </a:solidFill>
          <a:ln w="12700">
            <a:solidFill>
              <a:srgbClr val="E5E7EB"/>
            </a:solidFill>
            <a:prstDash val="solid"/>
          </a:ln>
        </p:spPr>
      </p:sp>
      <p:sp>
        <p:nvSpPr>
          <p:cNvPr id="21" name="Text 19"/>
          <p:cNvSpPr/>
          <p:nvPr/>
        </p:nvSpPr>
        <p:spPr>
          <a:xfrm>
            <a:off x="7461504" y="1719072"/>
            <a:ext cx="384048" cy="384048"/>
          </a:xfrm>
          <a:prstGeom prst="rect">
            <a:avLst/>
          </a:prstGeom>
          <a:noFill/>
          <a:ln/>
        </p:spPr>
        <p:txBody>
          <a:bodyPr wrap="square" lIns="0" tIns="0" rIns="0" bIns="0" rtlCol="0" anchor="ctr"/>
          <a:lstStyle/>
          <a:p>
            <a:pPr algn="ctr" indent="0" marL="0">
              <a:buNone/>
            </a:pPr>
            <a:r>
              <a:rPr lang="en-US" sz="2000" b="1" dirty="0">
                <a:solidFill>
                  <a:srgbClr val="D97706"/>
                </a:solidFill>
                <a:latin typeface="Aptos Display" pitchFamily="34" charset="0"/>
                <a:ea typeface="Aptos Display" pitchFamily="34" charset="-122"/>
                <a:cs typeface="Aptos Display" pitchFamily="34" charset="-120"/>
              </a:rPr>
              <a:t>4</a:t>
            </a:r>
            <a:endParaRPr lang="en-US" sz="2000" dirty="0"/>
          </a:p>
        </p:txBody>
      </p:sp>
      <p:sp>
        <p:nvSpPr>
          <p:cNvPr id="22" name="Text 20"/>
          <p:cNvSpPr/>
          <p:nvPr/>
        </p:nvSpPr>
        <p:spPr>
          <a:xfrm>
            <a:off x="7498080" y="2212848"/>
            <a:ext cx="1508760" cy="292608"/>
          </a:xfrm>
          <a:prstGeom prst="rect">
            <a:avLst/>
          </a:prstGeom>
          <a:noFill/>
          <a:ln/>
        </p:spPr>
        <p:txBody>
          <a:bodyPr wrap="square" lIns="0" tIns="0" rIns="0" bIns="0" rtlCol="0" anchor="ctr"/>
          <a:lstStyle/>
          <a:p>
            <a:pPr indent="0" marL="0">
              <a:buNone/>
            </a:pPr>
            <a:r>
              <a:rPr lang="en-US" sz="1900" b="1" dirty="0">
                <a:solidFill>
                  <a:srgbClr val="334155"/>
                </a:solidFill>
                <a:latin typeface="Aptos Display" pitchFamily="34" charset="0"/>
                <a:ea typeface="Aptos Display" pitchFamily="34" charset="-122"/>
                <a:cs typeface="Aptos Display" pitchFamily="34" charset="-120"/>
              </a:rPr>
              <a:t>Model</a:t>
            </a:r>
            <a:endParaRPr lang="en-US" sz="1900" dirty="0"/>
          </a:p>
        </p:txBody>
      </p:sp>
      <p:sp>
        <p:nvSpPr>
          <p:cNvPr id="23" name="Text 21"/>
          <p:cNvSpPr/>
          <p:nvPr/>
        </p:nvSpPr>
        <p:spPr>
          <a:xfrm>
            <a:off x="7498080" y="2761488"/>
            <a:ext cx="1508760" cy="502920"/>
          </a:xfrm>
          <a:prstGeom prst="rect">
            <a:avLst/>
          </a:prstGeom>
          <a:noFill/>
          <a:ln/>
        </p:spPr>
        <p:txBody>
          <a:bodyPr wrap="square" lIns="0" tIns="0" rIns="0" bIns="0" rtlCol="0" anchor="ctr">
            <a:normAutofit/>
          </a:bodyPr>
          <a:lstStyle/>
          <a:p>
            <a:pPr indent="0" marL="0">
              <a:buNone/>
            </a:pPr>
            <a:r>
              <a:rPr lang="en-US" sz="1240" dirty="0">
                <a:solidFill>
                  <a:srgbClr val="64748B"/>
                </a:solidFill>
                <a:latin typeface="Aptos" pitchFamily="34" charset="0"/>
                <a:ea typeface="Aptos" pitchFamily="34" charset="-122"/>
                <a:cs typeface="Aptos" pitchFamily="34" charset="-120"/>
              </a:rPr>
              <a:t>5 experiments</a:t>
            </a:r>
            <a:endParaRPr lang="en-US" sz="1240" dirty="0"/>
          </a:p>
        </p:txBody>
      </p:sp>
      <p:sp>
        <p:nvSpPr>
          <p:cNvPr id="24" name="Text 22"/>
          <p:cNvSpPr/>
          <p:nvPr/>
        </p:nvSpPr>
        <p:spPr>
          <a:xfrm>
            <a:off x="9244584" y="2340864"/>
            <a:ext cx="237744" cy="320040"/>
          </a:xfrm>
          <a:prstGeom prst="rect">
            <a:avLst/>
          </a:prstGeom>
          <a:noFill/>
          <a:ln/>
        </p:spPr>
        <p:txBody>
          <a:bodyPr wrap="square" lIns="0" tIns="0" rIns="0" bIns="0" rtlCol="0" anchor="ctr"/>
          <a:lstStyle/>
          <a:p>
            <a:pPr algn="ctr" indent="0" marL="0">
              <a:buNone/>
            </a:pPr>
            <a:r>
              <a:rPr lang="en-US" sz="2500" b="1" dirty="0">
                <a:solidFill>
                  <a:srgbClr val="2D6A4F"/>
                </a:solidFill>
                <a:latin typeface="Aptos Display" pitchFamily="34" charset="0"/>
                <a:ea typeface="Aptos Display" pitchFamily="34" charset="-122"/>
                <a:cs typeface="Aptos Display" pitchFamily="34" charset="-120"/>
              </a:rPr>
              <a:t>→</a:t>
            </a:r>
            <a:endParaRPr lang="en-US" sz="2500" dirty="0"/>
          </a:p>
        </p:txBody>
      </p:sp>
      <p:sp>
        <p:nvSpPr>
          <p:cNvPr id="25" name="Shape 23"/>
          <p:cNvSpPr/>
          <p:nvPr/>
        </p:nvSpPr>
        <p:spPr>
          <a:xfrm>
            <a:off x="9555480" y="1508760"/>
            <a:ext cx="1874520" cy="2377440"/>
          </a:xfrm>
          <a:prstGeom prst="roundRect">
            <a:avLst>
              <a:gd name="adj" fmla="val 8780"/>
            </a:avLst>
          </a:prstGeom>
          <a:solidFill>
            <a:srgbClr val="E9F5EE"/>
          </a:solidFill>
          <a:ln w="12700">
            <a:solidFill>
              <a:srgbClr val="1B4332"/>
            </a:solidFill>
            <a:prstDash val="solid"/>
          </a:ln>
        </p:spPr>
      </p:sp>
      <p:sp>
        <p:nvSpPr>
          <p:cNvPr id="26" name="Text 24"/>
          <p:cNvSpPr/>
          <p:nvPr/>
        </p:nvSpPr>
        <p:spPr>
          <a:xfrm>
            <a:off x="9701784" y="1719072"/>
            <a:ext cx="384048" cy="384048"/>
          </a:xfrm>
          <a:prstGeom prst="rect">
            <a:avLst/>
          </a:prstGeom>
          <a:noFill/>
          <a:ln/>
        </p:spPr>
        <p:txBody>
          <a:bodyPr wrap="square" lIns="0" tIns="0" rIns="0" bIns="0" rtlCol="0" anchor="ctr"/>
          <a:lstStyle/>
          <a:p>
            <a:pPr algn="ctr" indent="0" marL="0">
              <a:buNone/>
            </a:pPr>
            <a:r>
              <a:rPr lang="en-US" sz="2000" b="1" dirty="0">
                <a:solidFill>
                  <a:srgbClr val="1B4332"/>
                </a:solidFill>
                <a:latin typeface="Aptos Display" pitchFamily="34" charset="0"/>
                <a:ea typeface="Aptos Display" pitchFamily="34" charset="-122"/>
                <a:cs typeface="Aptos Display" pitchFamily="34" charset="-120"/>
              </a:rPr>
              <a:t>5</a:t>
            </a:r>
            <a:endParaRPr lang="en-US" sz="2000" dirty="0"/>
          </a:p>
        </p:txBody>
      </p:sp>
      <p:sp>
        <p:nvSpPr>
          <p:cNvPr id="27" name="Text 25"/>
          <p:cNvSpPr/>
          <p:nvPr/>
        </p:nvSpPr>
        <p:spPr>
          <a:xfrm>
            <a:off x="9738360" y="2212848"/>
            <a:ext cx="1508760" cy="292608"/>
          </a:xfrm>
          <a:prstGeom prst="rect">
            <a:avLst/>
          </a:prstGeom>
          <a:noFill/>
          <a:ln/>
        </p:spPr>
        <p:txBody>
          <a:bodyPr wrap="square" lIns="0" tIns="0" rIns="0" bIns="0" rtlCol="0" anchor="ctr"/>
          <a:lstStyle/>
          <a:p>
            <a:pPr indent="0" marL="0">
              <a:buNone/>
            </a:pPr>
            <a:r>
              <a:rPr lang="en-US" sz="1900" b="1" dirty="0">
                <a:solidFill>
                  <a:srgbClr val="334155"/>
                </a:solidFill>
                <a:latin typeface="Aptos Display" pitchFamily="34" charset="0"/>
                <a:ea typeface="Aptos Display" pitchFamily="34" charset="-122"/>
                <a:cs typeface="Aptos Display" pitchFamily="34" charset="-120"/>
              </a:rPr>
              <a:t>Deploy</a:t>
            </a:r>
            <a:endParaRPr lang="en-US" sz="1900" dirty="0"/>
          </a:p>
        </p:txBody>
      </p:sp>
      <p:sp>
        <p:nvSpPr>
          <p:cNvPr id="28" name="Text 26"/>
          <p:cNvSpPr/>
          <p:nvPr/>
        </p:nvSpPr>
        <p:spPr>
          <a:xfrm>
            <a:off x="9738360" y="2761488"/>
            <a:ext cx="1508760" cy="502920"/>
          </a:xfrm>
          <a:prstGeom prst="rect">
            <a:avLst/>
          </a:prstGeom>
          <a:noFill/>
          <a:ln/>
        </p:spPr>
        <p:txBody>
          <a:bodyPr wrap="square" lIns="0" tIns="0" rIns="0" bIns="0" rtlCol="0" anchor="ctr">
            <a:normAutofit/>
          </a:bodyPr>
          <a:lstStyle/>
          <a:p>
            <a:pPr indent="0" marL="0">
              <a:buNone/>
            </a:pPr>
            <a:r>
              <a:rPr lang="en-US" sz="1240" dirty="0">
                <a:solidFill>
                  <a:srgbClr val="64748B"/>
                </a:solidFill>
                <a:latin typeface="Aptos" pitchFamily="34" charset="0"/>
                <a:ea typeface="Aptos" pitchFamily="34" charset="-122"/>
                <a:cs typeface="Aptos" pitchFamily="34" charset="-120"/>
              </a:rPr>
              <a:t>Streamlit prototype</a:t>
            </a:r>
            <a:endParaRPr lang="en-US" sz="1240" dirty="0"/>
          </a:p>
        </p:txBody>
      </p:sp>
      <p:sp>
        <p:nvSpPr>
          <p:cNvPr id="29" name="Text 27"/>
          <p:cNvSpPr/>
          <p:nvPr/>
        </p:nvSpPr>
        <p:spPr>
          <a:xfrm>
            <a:off x="685800" y="4681728"/>
            <a:ext cx="2743200" cy="283464"/>
          </a:xfrm>
          <a:prstGeom prst="rect">
            <a:avLst/>
          </a:prstGeom>
          <a:noFill/>
          <a:ln/>
        </p:spPr>
        <p:txBody>
          <a:bodyPr wrap="square" lIns="0" tIns="0" rIns="0" bIns="0" rtlCol="0" anchor="ctr"/>
          <a:lstStyle/>
          <a:p>
            <a:pPr indent="0" marL="0">
              <a:buNone/>
            </a:pPr>
            <a:r>
              <a:rPr lang="en-US" sz="1800" b="1" dirty="0">
                <a:solidFill>
                  <a:srgbClr val="1B4332"/>
                </a:solidFill>
                <a:latin typeface="Aptos Display" pitchFamily="34" charset="0"/>
                <a:ea typeface="Aptos Display" pitchFamily="34" charset="-122"/>
                <a:cs typeface="Aptos Display" pitchFamily="34" charset="-120"/>
              </a:rPr>
              <a:t>Pipeline discipline mattered</a:t>
            </a:r>
            <a:endParaRPr lang="en-US" sz="1800" dirty="0"/>
          </a:p>
        </p:txBody>
      </p:sp>
      <p:sp>
        <p:nvSpPr>
          <p:cNvPr id="30" name="Text 28"/>
          <p:cNvSpPr/>
          <p:nvPr/>
        </p:nvSpPr>
        <p:spPr>
          <a:xfrm>
            <a:off x="685800" y="5074920"/>
            <a:ext cx="10515600" cy="502920"/>
          </a:xfrm>
          <a:prstGeom prst="rect">
            <a:avLst/>
          </a:prstGeom>
          <a:noFill/>
          <a:ln/>
        </p:spPr>
        <p:txBody>
          <a:bodyPr wrap="square" lIns="0" tIns="0" rIns="0" bIns="0" rtlCol="0" anchor="ctr">
            <a:normAutofit/>
          </a:bodyPr>
          <a:lstStyle/>
          <a:p>
            <a:pPr indent="0" marL="0">
              <a:buNone/>
            </a:pPr>
            <a:r>
              <a:rPr lang="en-US" sz="1400" dirty="0">
                <a:solidFill>
                  <a:srgbClr val="334155"/>
                </a:solidFill>
                <a:latin typeface="Aptos" pitchFamily="34" charset="0"/>
                <a:ea typeface="Aptos" pitchFamily="34" charset="-122"/>
                <a:cs typeface="Aptos" pitchFamily="34" charset="-120"/>
              </a:rPr>
              <a:t>The same cleaned data, split convention and reusable feature-engineering function were used to keep model comparison fair and prevent leakage.</a:t>
            </a:r>
            <a:endParaRPr lang="en-US" sz="1400" dirty="0"/>
          </a:p>
        </p:txBody>
      </p:sp>
      <p:sp>
        <p:nvSpPr>
          <p:cNvPr id="31" name="Text 29"/>
          <p:cNvSpPr/>
          <p:nvPr/>
        </p:nvSpPr>
        <p:spPr>
          <a:xfrm>
            <a:off x="11109960" y="6446520"/>
            <a:ext cx="548640" cy="201168"/>
          </a:xfrm>
          <a:prstGeom prst="rect">
            <a:avLst/>
          </a:prstGeom>
          <a:noFill/>
          <a:ln/>
        </p:spPr>
        <p:txBody>
          <a:bodyPr wrap="square" lIns="0" tIns="0" rIns="0" bIns="0" rtlCol="0" anchor="ctr"/>
          <a:lstStyle/>
          <a:p>
            <a:pPr algn="r" indent="0" marL="0">
              <a:buNone/>
            </a:pPr>
            <a:r>
              <a:rPr lang="en-US" sz="900" dirty="0">
                <a:solidFill>
                  <a:srgbClr val="94A3B8"/>
                </a:solidFill>
                <a:latin typeface="Aptos" pitchFamily="34" charset="0"/>
                <a:ea typeface="Aptos" pitchFamily="34" charset="-122"/>
                <a:cs typeface="Aptos"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2E8"/>
        </a:solidFill>
      </p:bgPr>
    </p:bg>
    <p:spTree>
      <p:nvGrpSpPr>
        <p:cNvPr id="1" name=""/>
        <p:cNvGrpSpPr/>
        <p:nvPr/>
      </p:nvGrpSpPr>
      <p:grpSpPr>
        <a:xfrm>
          <a:off x="0" y="0"/>
          <a:ext cx="0" cy="0"/>
          <a:chOff x="0" y="0"/>
          <a:chExt cx="0" cy="0"/>
        </a:xfrm>
      </p:grpSpPr>
      <p:sp>
        <p:nvSpPr>
          <p:cNvPr id="2" name="Text 0"/>
          <p:cNvSpPr/>
          <p:nvPr/>
        </p:nvSpPr>
        <p:spPr>
          <a:xfrm>
            <a:off x="502920" y="329184"/>
            <a:ext cx="7406640" cy="329184"/>
          </a:xfrm>
          <a:prstGeom prst="rect">
            <a:avLst/>
          </a:prstGeom>
          <a:noFill/>
          <a:ln/>
        </p:spPr>
        <p:txBody>
          <a:bodyPr wrap="square" lIns="0" tIns="0" rIns="0" bIns="0" rtlCol="0" anchor="ctr"/>
          <a:lstStyle/>
          <a:p>
            <a:pPr indent="0" marL="0">
              <a:buNone/>
            </a:pPr>
            <a:r>
              <a:rPr lang="en-US" sz="2300" b="1" dirty="0">
                <a:solidFill>
                  <a:srgbClr val="1B4332"/>
                </a:solidFill>
                <a:latin typeface="Aptos Display" pitchFamily="34" charset="0"/>
                <a:ea typeface="Aptos Display" pitchFamily="34" charset="-122"/>
                <a:cs typeface="Aptos Display" pitchFamily="34" charset="-120"/>
              </a:rPr>
              <a:t>EDA reality check: the data was clean, but the signal was weak</a:t>
            </a:r>
            <a:endParaRPr lang="en-US" sz="2300" dirty="0"/>
          </a:p>
        </p:txBody>
      </p:sp>
      <p:sp>
        <p:nvSpPr>
          <p:cNvPr id="3" name="Text 1"/>
          <p:cNvSpPr/>
          <p:nvPr/>
        </p:nvSpPr>
        <p:spPr>
          <a:xfrm>
            <a:off x="8549640" y="384048"/>
            <a:ext cx="3291840" cy="219456"/>
          </a:xfrm>
          <a:prstGeom prst="rect">
            <a:avLst/>
          </a:prstGeom>
          <a:noFill/>
          <a:ln/>
        </p:spPr>
        <p:txBody>
          <a:bodyPr wrap="square" lIns="0" tIns="0" rIns="0" bIns="0" rtlCol="0" anchor="ctr"/>
          <a:lstStyle/>
          <a:p>
            <a:pPr algn="r" indent="0" marL="0">
              <a:buNone/>
            </a:pPr>
            <a:r>
              <a:rPr lang="en-US" sz="950" dirty="0">
                <a:solidFill>
                  <a:srgbClr val="64748B"/>
                </a:solidFill>
                <a:latin typeface="Aptos" pitchFamily="34" charset="0"/>
                <a:ea typeface="Aptos" pitchFamily="34" charset="-122"/>
                <a:cs typeface="Aptos" pitchFamily="34" charset="-120"/>
              </a:rPr>
              <a:t>Gamma 2 • Crop Yield Prediction</a:t>
            </a:r>
            <a:endParaRPr lang="en-US" sz="950" dirty="0"/>
          </a:p>
        </p:txBody>
      </p:sp>
      <p:sp>
        <p:nvSpPr>
          <p:cNvPr id="4" name="Shape 2"/>
          <p:cNvSpPr/>
          <p:nvPr/>
        </p:nvSpPr>
        <p:spPr>
          <a:xfrm>
            <a:off x="502920" y="768096"/>
            <a:ext cx="11201400" cy="0"/>
          </a:xfrm>
          <a:prstGeom prst="line">
            <a:avLst/>
          </a:prstGeom>
          <a:noFill/>
          <a:ln w="12700">
            <a:solidFill>
              <a:srgbClr val="E2E8F0"/>
            </a:solidFill>
            <a:prstDash val="solid"/>
          </a:ln>
        </p:spPr>
      </p:sp>
      <p:sp>
        <p:nvSpPr>
          <p:cNvPr id="5" name="Shape 3"/>
          <p:cNvSpPr/>
          <p:nvPr/>
        </p:nvSpPr>
        <p:spPr>
          <a:xfrm>
            <a:off x="603504" y="1124712"/>
            <a:ext cx="3374136" cy="2139696"/>
          </a:xfrm>
          <a:prstGeom prst="roundRect">
            <a:avLst>
              <a:gd name="adj" fmla="val 5128"/>
            </a:avLst>
          </a:prstGeom>
          <a:solidFill>
            <a:srgbClr val="FFFFFF"/>
          </a:solidFill>
          <a:ln w="12700">
            <a:solidFill>
              <a:srgbClr val="E5E7EB"/>
            </a:solidFill>
            <a:prstDash val="solid"/>
          </a:ln>
        </p:spPr>
      </p:sp>
      <p:pic>
        <p:nvPicPr>
          <p:cNvPr id="6" name="Image 0" descr="/mnt/data/extracted_report_images/p14_img1.png">    </p:cNvPr>
          <p:cNvPicPr>
            <a:picLocks noChangeAspect="1"/>
          </p:cNvPicPr>
          <p:nvPr/>
        </p:nvPicPr>
        <p:blipFill>
          <a:blip r:embed="rId1"/>
          <a:stretch>
            <a:fillRect/>
          </a:stretch>
        </p:blipFill>
        <p:spPr>
          <a:xfrm>
            <a:off x="702526" y="1143000"/>
            <a:ext cx="3176092" cy="2103120"/>
          </a:xfrm>
          <a:prstGeom prst="rect">
            <a:avLst/>
          </a:prstGeom>
        </p:spPr>
      </p:pic>
      <p:sp>
        <p:nvSpPr>
          <p:cNvPr id="7" name="Shape 4"/>
          <p:cNvSpPr/>
          <p:nvPr/>
        </p:nvSpPr>
        <p:spPr>
          <a:xfrm>
            <a:off x="4407408" y="1124712"/>
            <a:ext cx="3374136" cy="2139696"/>
          </a:xfrm>
          <a:prstGeom prst="roundRect">
            <a:avLst>
              <a:gd name="adj" fmla="val 5128"/>
            </a:avLst>
          </a:prstGeom>
          <a:solidFill>
            <a:srgbClr val="FFFFFF"/>
          </a:solidFill>
          <a:ln w="12700">
            <a:solidFill>
              <a:srgbClr val="E5E7EB"/>
            </a:solidFill>
            <a:prstDash val="solid"/>
          </a:ln>
        </p:spPr>
      </p:sp>
      <p:pic>
        <p:nvPicPr>
          <p:cNvPr id="8" name="Image 1" descr="/mnt/data/extracted_report_images/p16_img1.png">    </p:cNvPr>
          <p:cNvPicPr>
            <a:picLocks noChangeAspect="1"/>
          </p:cNvPicPr>
          <p:nvPr/>
        </p:nvPicPr>
        <p:blipFill>
          <a:blip r:embed="rId2"/>
          <a:stretch>
            <a:fillRect/>
          </a:stretch>
        </p:blipFill>
        <p:spPr>
          <a:xfrm>
            <a:off x="4507025" y="1143000"/>
            <a:ext cx="3174902" cy="2103120"/>
          </a:xfrm>
          <a:prstGeom prst="rect">
            <a:avLst/>
          </a:prstGeom>
        </p:spPr>
      </p:pic>
      <p:sp>
        <p:nvSpPr>
          <p:cNvPr id="9" name="Shape 5"/>
          <p:cNvSpPr/>
          <p:nvPr/>
        </p:nvSpPr>
        <p:spPr>
          <a:xfrm>
            <a:off x="8229600" y="1124712"/>
            <a:ext cx="3374136" cy="2139696"/>
          </a:xfrm>
          <a:prstGeom prst="roundRect">
            <a:avLst>
              <a:gd name="adj" fmla="val 5128"/>
            </a:avLst>
          </a:prstGeom>
          <a:solidFill>
            <a:srgbClr val="FFFFFF"/>
          </a:solidFill>
          <a:ln w="12700">
            <a:solidFill>
              <a:srgbClr val="E5E7EB"/>
            </a:solidFill>
            <a:prstDash val="solid"/>
          </a:ln>
        </p:spPr>
      </p:sp>
      <p:pic>
        <p:nvPicPr>
          <p:cNvPr id="10" name="Image 2" descr="/mnt/data/extracted_report_images/p15_img1.png">    </p:cNvPr>
          <p:cNvPicPr>
            <a:picLocks noChangeAspect="1"/>
          </p:cNvPicPr>
          <p:nvPr/>
        </p:nvPicPr>
        <p:blipFill>
          <a:blip r:embed="rId3"/>
          <a:stretch>
            <a:fillRect/>
          </a:stretch>
        </p:blipFill>
        <p:spPr>
          <a:xfrm>
            <a:off x="8247888" y="1293041"/>
            <a:ext cx="3337560" cy="1803038"/>
          </a:xfrm>
          <a:prstGeom prst="rect">
            <a:avLst/>
          </a:prstGeom>
        </p:spPr>
      </p:pic>
      <p:sp>
        <p:nvSpPr>
          <p:cNvPr id="11" name="Text 6"/>
          <p:cNvSpPr/>
          <p:nvPr/>
        </p:nvSpPr>
        <p:spPr>
          <a:xfrm>
            <a:off x="731520" y="3401568"/>
            <a:ext cx="3200400" cy="237744"/>
          </a:xfrm>
          <a:prstGeom prst="rect">
            <a:avLst/>
          </a:prstGeom>
          <a:noFill/>
          <a:ln/>
        </p:spPr>
        <p:txBody>
          <a:bodyPr wrap="square" lIns="0" tIns="0" rIns="0" bIns="0" rtlCol="0" anchor="ctr"/>
          <a:lstStyle/>
          <a:p>
            <a:pPr indent="0" marL="0">
              <a:buNone/>
            </a:pPr>
            <a:r>
              <a:rPr lang="en-US" sz="1050" b="1" dirty="0">
                <a:solidFill>
                  <a:srgbClr val="1B4332"/>
                </a:solidFill>
                <a:latin typeface="Aptos" pitchFamily="34" charset="0"/>
                <a:ea typeface="Aptos" pitchFamily="34" charset="-122"/>
                <a:cs typeface="Aptos" pitchFamily="34" charset="-120"/>
              </a:rPr>
              <a:t>Yield distribution: no severe skew</a:t>
            </a:r>
            <a:endParaRPr lang="en-US" sz="1050" dirty="0"/>
          </a:p>
        </p:txBody>
      </p:sp>
      <p:sp>
        <p:nvSpPr>
          <p:cNvPr id="12" name="Text 7"/>
          <p:cNvSpPr/>
          <p:nvPr/>
        </p:nvSpPr>
        <p:spPr>
          <a:xfrm>
            <a:off x="4535424" y="3401568"/>
            <a:ext cx="3200400" cy="237744"/>
          </a:xfrm>
          <a:prstGeom prst="rect">
            <a:avLst/>
          </a:prstGeom>
          <a:noFill/>
          <a:ln/>
        </p:spPr>
        <p:txBody>
          <a:bodyPr wrap="square" lIns="0" tIns="0" rIns="0" bIns="0" rtlCol="0" anchor="ctr"/>
          <a:lstStyle/>
          <a:p>
            <a:pPr indent="0" marL="0">
              <a:buNone/>
            </a:pPr>
            <a:r>
              <a:rPr lang="en-US" sz="1050" b="1" dirty="0">
                <a:solidFill>
                  <a:srgbClr val="1B4332"/>
                </a:solidFill>
                <a:latin typeface="Aptos" pitchFamily="34" charset="0"/>
                <a:ea typeface="Aptos" pitchFamily="34" charset="-122"/>
                <a:cs typeface="Aptos" pitchFamily="34" charset="-120"/>
              </a:rPr>
              <a:t>Rainfall relationship: statistically significant but weak</a:t>
            </a:r>
            <a:endParaRPr lang="en-US" sz="1050" dirty="0"/>
          </a:p>
        </p:txBody>
      </p:sp>
      <p:sp>
        <p:nvSpPr>
          <p:cNvPr id="13" name="Text 8"/>
          <p:cNvSpPr/>
          <p:nvPr/>
        </p:nvSpPr>
        <p:spPr>
          <a:xfrm>
            <a:off x="8366760" y="3401568"/>
            <a:ext cx="3200400" cy="237744"/>
          </a:xfrm>
          <a:prstGeom prst="rect">
            <a:avLst/>
          </a:prstGeom>
          <a:noFill/>
          <a:ln/>
        </p:spPr>
        <p:txBody>
          <a:bodyPr wrap="square" lIns="0" tIns="0" rIns="0" bIns="0" rtlCol="0" anchor="ctr"/>
          <a:lstStyle/>
          <a:p>
            <a:pPr indent="0" marL="0">
              <a:buNone/>
            </a:pPr>
            <a:r>
              <a:rPr lang="en-US" sz="1050" b="1" dirty="0">
                <a:solidFill>
                  <a:srgbClr val="1B4332"/>
                </a:solidFill>
                <a:latin typeface="Aptos" pitchFamily="34" charset="0"/>
                <a:ea typeface="Aptos" pitchFamily="34" charset="-122"/>
                <a:cs typeface="Aptos" pitchFamily="34" charset="-120"/>
              </a:rPr>
              <a:t>Crop categories: large overlap</a:t>
            </a:r>
            <a:endParaRPr lang="en-US" sz="1050" dirty="0"/>
          </a:p>
        </p:txBody>
      </p:sp>
      <p:sp>
        <p:nvSpPr>
          <p:cNvPr id="14" name="Shape 9"/>
          <p:cNvSpPr/>
          <p:nvPr/>
        </p:nvSpPr>
        <p:spPr>
          <a:xfrm>
            <a:off x="731520" y="4251960"/>
            <a:ext cx="1828800" cy="914400"/>
          </a:xfrm>
          <a:prstGeom prst="roundRect">
            <a:avLst>
              <a:gd name="adj" fmla="val 12000"/>
            </a:avLst>
          </a:prstGeom>
          <a:solidFill>
            <a:srgbClr val="FFFFFF"/>
          </a:solidFill>
          <a:ln w="12700">
            <a:solidFill>
              <a:srgbClr val="E5E7EB"/>
            </a:solidFill>
            <a:prstDash val="solid"/>
          </a:ln>
        </p:spPr>
      </p:sp>
      <p:sp>
        <p:nvSpPr>
          <p:cNvPr id="15" name="Text 10"/>
          <p:cNvSpPr/>
          <p:nvPr/>
        </p:nvSpPr>
        <p:spPr>
          <a:xfrm>
            <a:off x="896112" y="4398264"/>
            <a:ext cx="1499616" cy="384048"/>
          </a:xfrm>
          <a:prstGeom prst="rect">
            <a:avLst/>
          </a:prstGeom>
          <a:noFill/>
          <a:ln/>
        </p:spPr>
        <p:txBody>
          <a:bodyPr wrap="square" lIns="0" tIns="0" rIns="0" bIns="0" rtlCol="0" anchor="ctr"/>
          <a:lstStyle/>
          <a:p>
            <a:pPr algn="ctr" indent="0" marL="0">
              <a:buNone/>
            </a:pPr>
            <a:r>
              <a:rPr lang="en-US" sz="2300" b="1" dirty="0">
                <a:solidFill>
                  <a:srgbClr val="D97706"/>
                </a:solidFill>
                <a:latin typeface="Aptos Display" pitchFamily="34" charset="0"/>
                <a:ea typeface="Aptos Display" pitchFamily="34" charset="-122"/>
                <a:cs typeface="Aptos Display" pitchFamily="34" charset="-120"/>
              </a:rPr>
              <a:t>1.05%</a:t>
            </a:r>
            <a:endParaRPr lang="en-US" sz="2300" dirty="0"/>
          </a:p>
        </p:txBody>
      </p:sp>
      <p:sp>
        <p:nvSpPr>
          <p:cNvPr id="16" name="Text 11"/>
          <p:cNvSpPr/>
          <p:nvPr/>
        </p:nvSpPr>
        <p:spPr>
          <a:xfrm>
            <a:off x="896112" y="4855464"/>
            <a:ext cx="1499616" cy="246888"/>
          </a:xfrm>
          <a:prstGeom prst="rect">
            <a:avLst/>
          </a:prstGeom>
          <a:noFill/>
          <a:ln/>
        </p:spPr>
        <p:txBody>
          <a:bodyPr wrap="square" lIns="254" tIns="254" rIns="254" bIns="254" rtlCol="0" anchor="ctr"/>
          <a:lstStyle/>
          <a:p>
            <a:pPr algn="ctr" indent="0" marL="0">
              <a:buNone/>
            </a:pPr>
            <a:r>
              <a:rPr lang="en-US" sz="1050" dirty="0">
                <a:solidFill>
                  <a:srgbClr val="334155"/>
                </a:solidFill>
                <a:latin typeface="Aptos" pitchFamily="34" charset="0"/>
                <a:ea typeface="Aptos" pitchFamily="34" charset="-122"/>
                <a:cs typeface="Aptos" pitchFamily="34" charset="-120"/>
              </a:rPr>
              <a:t>yield variation explained by rainfall alone</a:t>
            </a:r>
            <a:endParaRPr lang="en-US" sz="1050" dirty="0"/>
          </a:p>
        </p:txBody>
      </p:sp>
      <p:sp>
        <p:nvSpPr>
          <p:cNvPr id="17" name="Shape 12"/>
          <p:cNvSpPr/>
          <p:nvPr/>
        </p:nvSpPr>
        <p:spPr>
          <a:xfrm>
            <a:off x="2880360" y="4251960"/>
            <a:ext cx="1828800" cy="914400"/>
          </a:xfrm>
          <a:prstGeom prst="roundRect">
            <a:avLst>
              <a:gd name="adj" fmla="val 12000"/>
            </a:avLst>
          </a:prstGeom>
          <a:solidFill>
            <a:srgbClr val="FFFFFF"/>
          </a:solidFill>
          <a:ln w="12700">
            <a:solidFill>
              <a:srgbClr val="E5E7EB"/>
            </a:solidFill>
            <a:prstDash val="solid"/>
          </a:ln>
        </p:spPr>
      </p:sp>
      <p:sp>
        <p:nvSpPr>
          <p:cNvPr id="18" name="Text 13"/>
          <p:cNvSpPr/>
          <p:nvPr/>
        </p:nvSpPr>
        <p:spPr>
          <a:xfrm>
            <a:off x="3044952" y="4398264"/>
            <a:ext cx="1499616" cy="384048"/>
          </a:xfrm>
          <a:prstGeom prst="rect">
            <a:avLst/>
          </a:prstGeom>
          <a:noFill/>
          <a:ln/>
        </p:spPr>
        <p:txBody>
          <a:bodyPr wrap="square" lIns="0" tIns="0" rIns="0" bIns="0" rtlCol="0" anchor="ctr"/>
          <a:lstStyle/>
          <a:p>
            <a:pPr algn="ctr" indent="0" marL="0">
              <a:buNone/>
            </a:pPr>
            <a:r>
              <a:rPr lang="en-US" sz="2300" b="1" dirty="0">
                <a:solidFill>
                  <a:srgbClr val="D97706"/>
                </a:solidFill>
                <a:latin typeface="Aptos Display" pitchFamily="34" charset="0"/>
                <a:ea typeface="Aptos Display" pitchFamily="34" charset="-122"/>
                <a:cs typeface="Aptos Display" pitchFamily="34" charset="-120"/>
              </a:rPr>
              <a:t>2.25%</a:t>
            </a:r>
            <a:endParaRPr lang="en-US" sz="2300" dirty="0"/>
          </a:p>
        </p:txBody>
      </p:sp>
      <p:sp>
        <p:nvSpPr>
          <p:cNvPr id="19" name="Text 14"/>
          <p:cNvSpPr/>
          <p:nvPr/>
        </p:nvSpPr>
        <p:spPr>
          <a:xfrm>
            <a:off x="3044952" y="4855464"/>
            <a:ext cx="1499616" cy="246888"/>
          </a:xfrm>
          <a:prstGeom prst="rect">
            <a:avLst/>
          </a:prstGeom>
          <a:noFill/>
          <a:ln/>
        </p:spPr>
        <p:txBody>
          <a:bodyPr wrap="square" lIns="254" tIns="254" rIns="254" bIns="254" rtlCol="0" anchor="ctr"/>
          <a:lstStyle/>
          <a:p>
            <a:pPr algn="ctr" indent="0" marL="0">
              <a:buNone/>
            </a:pPr>
            <a:r>
              <a:rPr lang="en-US" sz="1050" dirty="0">
                <a:solidFill>
                  <a:srgbClr val="334155"/>
                </a:solidFill>
                <a:latin typeface="Aptos" pitchFamily="34" charset="0"/>
                <a:ea typeface="Aptos" pitchFamily="34" charset="-122"/>
                <a:cs typeface="Aptos" pitchFamily="34" charset="-120"/>
              </a:rPr>
              <a:t>yield variation explained by quadratic temperature</a:t>
            </a:r>
            <a:endParaRPr lang="en-US" sz="1050" dirty="0"/>
          </a:p>
        </p:txBody>
      </p:sp>
      <p:sp>
        <p:nvSpPr>
          <p:cNvPr id="20" name="Shape 15"/>
          <p:cNvSpPr/>
          <p:nvPr/>
        </p:nvSpPr>
        <p:spPr>
          <a:xfrm>
            <a:off x="5029200" y="4251960"/>
            <a:ext cx="1828800" cy="914400"/>
          </a:xfrm>
          <a:prstGeom prst="roundRect">
            <a:avLst>
              <a:gd name="adj" fmla="val 12000"/>
            </a:avLst>
          </a:prstGeom>
          <a:solidFill>
            <a:srgbClr val="FFFFFF"/>
          </a:solidFill>
          <a:ln w="12700">
            <a:solidFill>
              <a:srgbClr val="E5E7EB"/>
            </a:solidFill>
            <a:prstDash val="solid"/>
          </a:ln>
        </p:spPr>
      </p:sp>
      <p:sp>
        <p:nvSpPr>
          <p:cNvPr id="21" name="Text 16"/>
          <p:cNvSpPr/>
          <p:nvPr/>
        </p:nvSpPr>
        <p:spPr>
          <a:xfrm>
            <a:off x="5193792" y="4398264"/>
            <a:ext cx="1499616" cy="384048"/>
          </a:xfrm>
          <a:prstGeom prst="rect">
            <a:avLst/>
          </a:prstGeom>
          <a:noFill/>
          <a:ln/>
        </p:spPr>
        <p:txBody>
          <a:bodyPr wrap="square" lIns="0" tIns="0" rIns="0" bIns="0" rtlCol="0" anchor="ctr"/>
          <a:lstStyle/>
          <a:p>
            <a:pPr algn="ctr" indent="0" marL="0">
              <a:buNone/>
            </a:pPr>
            <a:r>
              <a:rPr lang="en-US" sz="2300" b="1" dirty="0">
                <a:solidFill>
                  <a:srgbClr val="D97706"/>
                </a:solidFill>
                <a:latin typeface="Aptos Display" pitchFamily="34" charset="0"/>
                <a:ea typeface="Aptos Display" pitchFamily="34" charset="-122"/>
                <a:cs typeface="Aptos Display" pitchFamily="34" charset="-120"/>
              </a:rPr>
              <a:t>0.33%</a:t>
            </a:r>
            <a:endParaRPr lang="en-US" sz="2300" dirty="0"/>
          </a:p>
        </p:txBody>
      </p:sp>
      <p:sp>
        <p:nvSpPr>
          <p:cNvPr id="22" name="Text 17"/>
          <p:cNvSpPr/>
          <p:nvPr/>
        </p:nvSpPr>
        <p:spPr>
          <a:xfrm>
            <a:off x="5193792" y="4855464"/>
            <a:ext cx="1499616" cy="246888"/>
          </a:xfrm>
          <a:prstGeom prst="rect">
            <a:avLst/>
          </a:prstGeom>
          <a:noFill/>
          <a:ln/>
        </p:spPr>
        <p:txBody>
          <a:bodyPr wrap="square" lIns="254" tIns="254" rIns="254" bIns="254" rtlCol="0" anchor="ctr"/>
          <a:lstStyle/>
          <a:p>
            <a:pPr algn="ctr" indent="0" marL="0">
              <a:buNone/>
            </a:pPr>
            <a:r>
              <a:rPr lang="en-US" sz="1050" dirty="0">
                <a:solidFill>
                  <a:srgbClr val="334155"/>
                </a:solidFill>
                <a:latin typeface="Aptos" pitchFamily="34" charset="0"/>
                <a:ea typeface="Aptos" pitchFamily="34" charset="-122"/>
                <a:cs typeface="Aptos" pitchFamily="34" charset="-120"/>
              </a:rPr>
              <a:t>yield variation explained by crop type</a:t>
            </a:r>
            <a:endParaRPr lang="en-US" sz="1050" dirty="0"/>
          </a:p>
        </p:txBody>
      </p:sp>
      <p:sp>
        <p:nvSpPr>
          <p:cNvPr id="23" name="Shape 18"/>
          <p:cNvSpPr/>
          <p:nvPr/>
        </p:nvSpPr>
        <p:spPr>
          <a:xfrm>
            <a:off x="7360920" y="4279392"/>
            <a:ext cx="3931920" cy="877824"/>
          </a:xfrm>
          <a:prstGeom prst="roundRect">
            <a:avLst>
              <a:gd name="adj" fmla="val 12500"/>
            </a:avLst>
          </a:prstGeom>
          <a:solidFill>
            <a:srgbClr val="FFF7ED"/>
          </a:solidFill>
          <a:ln w="15240">
            <a:solidFill>
              <a:srgbClr val="DC2626"/>
            </a:solidFill>
            <a:prstDash val="solid"/>
          </a:ln>
        </p:spPr>
      </p:sp>
      <p:sp>
        <p:nvSpPr>
          <p:cNvPr id="24" name="Text 19"/>
          <p:cNvSpPr/>
          <p:nvPr/>
        </p:nvSpPr>
        <p:spPr>
          <a:xfrm>
            <a:off x="7525512" y="4398264"/>
            <a:ext cx="3602736" cy="676656"/>
          </a:xfrm>
          <a:prstGeom prst="rect">
            <a:avLst/>
          </a:prstGeom>
          <a:noFill/>
          <a:ln/>
        </p:spPr>
        <p:txBody>
          <a:bodyPr wrap="square" lIns="254" tIns="254" rIns="254" bIns="254" rtlCol="0" anchor="ctr">
            <a:normAutofit/>
          </a:bodyPr>
          <a:lstStyle/>
          <a:p>
            <a:pPr indent="0" marL="0">
              <a:buNone/>
            </a:pPr>
            <a:r>
              <a:rPr lang="en-US" sz="1300" dirty="0">
                <a:solidFill>
                  <a:srgbClr val="334155"/>
                </a:solidFill>
                <a:latin typeface="Aptos" pitchFamily="34" charset="0"/>
                <a:ea typeface="Aptos" pitchFamily="34" charset="-122"/>
                <a:cs typeface="Aptos" pitchFamily="34" charset="-120"/>
              </a:rPr>
              <a:t>Takeaway: the supplied variables individually explain very little of crop-yield variation.</a:t>
            </a:r>
            <a:endParaRPr lang="en-US" sz="1300" dirty="0"/>
          </a:p>
        </p:txBody>
      </p:sp>
      <p:sp>
        <p:nvSpPr>
          <p:cNvPr id="25" name="Text 20"/>
          <p:cNvSpPr/>
          <p:nvPr/>
        </p:nvSpPr>
        <p:spPr>
          <a:xfrm>
            <a:off x="11109960" y="6446520"/>
            <a:ext cx="548640" cy="201168"/>
          </a:xfrm>
          <a:prstGeom prst="rect">
            <a:avLst/>
          </a:prstGeom>
          <a:noFill/>
          <a:ln/>
        </p:spPr>
        <p:txBody>
          <a:bodyPr wrap="square" lIns="0" tIns="0" rIns="0" bIns="0" rtlCol="0" anchor="ctr"/>
          <a:lstStyle/>
          <a:p>
            <a:pPr algn="r" indent="0" marL="0">
              <a:buNone/>
            </a:pPr>
            <a:r>
              <a:rPr lang="en-US" sz="900" dirty="0">
                <a:solidFill>
                  <a:srgbClr val="94A3B8"/>
                </a:solidFill>
                <a:latin typeface="Aptos" pitchFamily="34" charset="0"/>
                <a:ea typeface="Aptos" pitchFamily="34" charset="-122"/>
                <a:cs typeface="Aptos"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2E8"/>
        </a:solidFill>
      </p:bgPr>
    </p:bg>
    <p:spTree>
      <p:nvGrpSpPr>
        <p:cNvPr id="1" name=""/>
        <p:cNvGrpSpPr/>
        <p:nvPr/>
      </p:nvGrpSpPr>
      <p:grpSpPr>
        <a:xfrm>
          <a:off x="0" y="0"/>
          <a:ext cx="0" cy="0"/>
          <a:chOff x="0" y="0"/>
          <a:chExt cx="0" cy="0"/>
        </a:xfrm>
      </p:grpSpPr>
      <p:sp>
        <p:nvSpPr>
          <p:cNvPr id="2" name="Text 0"/>
          <p:cNvSpPr/>
          <p:nvPr/>
        </p:nvSpPr>
        <p:spPr>
          <a:xfrm>
            <a:off x="502920" y="329184"/>
            <a:ext cx="7406640" cy="329184"/>
          </a:xfrm>
          <a:prstGeom prst="rect">
            <a:avLst/>
          </a:prstGeom>
          <a:noFill/>
          <a:ln/>
        </p:spPr>
        <p:txBody>
          <a:bodyPr wrap="square" lIns="0" tIns="0" rIns="0" bIns="0" rtlCol="0" anchor="ctr"/>
          <a:lstStyle/>
          <a:p>
            <a:pPr indent="0" marL="0">
              <a:buNone/>
            </a:pPr>
            <a:r>
              <a:rPr lang="en-US" sz="2300" b="1" dirty="0">
                <a:solidFill>
                  <a:srgbClr val="1B4332"/>
                </a:solidFill>
                <a:latin typeface="Aptos Display" pitchFamily="34" charset="0"/>
                <a:ea typeface="Aptos Display" pitchFamily="34" charset="-122"/>
                <a:cs typeface="Aptos Display" pitchFamily="34" charset="-120"/>
              </a:rPr>
              <a:t>Feature engineering added agronomic structure</a:t>
            </a:r>
            <a:endParaRPr lang="en-US" sz="2300" dirty="0"/>
          </a:p>
        </p:txBody>
      </p:sp>
      <p:sp>
        <p:nvSpPr>
          <p:cNvPr id="3" name="Text 1"/>
          <p:cNvSpPr/>
          <p:nvPr/>
        </p:nvSpPr>
        <p:spPr>
          <a:xfrm>
            <a:off x="8549640" y="384048"/>
            <a:ext cx="3291840" cy="219456"/>
          </a:xfrm>
          <a:prstGeom prst="rect">
            <a:avLst/>
          </a:prstGeom>
          <a:noFill/>
          <a:ln/>
        </p:spPr>
        <p:txBody>
          <a:bodyPr wrap="square" lIns="0" tIns="0" rIns="0" bIns="0" rtlCol="0" anchor="ctr"/>
          <a:lstStyle/>
          <a:p>
            <a:pPr algn="r" indent="0" marL="0">
              <a:buNone/>
            </a:pPr>
            <a:r>
              <a:rPr lang="en-US" sz="950" dirty="0">
                <a:solidFill>
                  <a:srgbClr val="64748B"/>
                </a:solidFill>
                <a:latin typeface="Aptos" pitchFamily="34" charset="0"/>
                <a:ea typeface="Aptos" pitchFamily="34" charset="-122"/>
                <a:cs typeface="Aptos" pitchFamily="34" charset="-120"/>
              </a:rPr>
              <a:t>Gamma 2 • Crop Yield Prediction</a:t>
            </a:r>
            <a:endParaRPr lang="en-US" sz="950" dirty="0"/>
          </a:p>
        </p:txBody>
      </p:sp>
      <p:sp>
        <p:nvSpPr>
          <p:cNvPr id="4" name="Shape 2"/>
          <p:cNvSpPr/>
          <p:nvPr/>
        </p:nvSpPr>
        <p:spPr>
          <a:xfrm>
            <a:off x="502920" y="768096"/>
            <a:ext cx="11201400" cy="0"/>
          </a:xfrm>
          <a:prstGeom prst="line">
            <a:avLst/>
          </a:prstGeom>
          <a:noFill/>
          <a:ln w="12700">
            <a:solidFill>
              <a:srgbClr val="E2E8F0"/>
            </a:solidFill>
            <a:prstDash val="solid"/>
          </a:ln>
        </p:spPr>
      </p:sp>
      <p:sp>
        <p:nvSpPr>
          <p:cNvPr id="5" name="Text 3"/>
          <p:cNvSpPr/>
          <p:nvPr/>
        </p:nvSpPr>
        <p:spPr>
          <a:xfrm>
            <a:off x="685800" y="1097280"/>
            <a:ext cx="2560320" cy="274320"/>
          </a:xfrm>
          <a:prstGeom prst="rect">
            <a:avLst/>
          </a:prstGeom>
          <a:noFill/>
          <a:ln/>
        </p:spPr>
        <p:txBody>
          <a:bodyPr wrap="square" lIns="0" tIns="0" rIns="0" bIns="0" rtlCol="0" anchor="ctr"/>
          <a:lstStyle/>
          <a:p>
            <a:pPr indent="0" marL="0">
              <a:buNone/>
            </a:pPr>
            <a:r>
              <a:rPr lang="en-US" sz="1800" b="1" dirty="0">
                <a:solidFill>
                  <a:srgbClr val="1B4332"/>
                </a:solidFill>
                <a:latin typeface="Aptos Display" pitchFamily="34" charset="0"/>
                <a:ea typeface="Aptos Display" pitchFamily="34" charset="-122"/>
                <a:cs typeface="Aptos Display" pitchFamily="34" charset="-120"/>
              </a:rPr>
              <a:t>Raw input variables</a:t>
            </a:r>
            <a:endParaRPr lang="en-US" sz="1800" dirty="0"/>
          </a:p>
        </p:txBody>
      </p:sp>
      <p:sp>
        <p:nvSpPr>
          <p:cNvPr id="6" name="Text 4"/>
          <p:cNvSpPr/>
          <p:nvPr/>
        </p:nvSpPr>
        <p:spPr>
          <a:xfrm>
            <a:off x="685800" y="1499616"/>
            <a:ext cx="4206240" cy="502920"/>
          </a:xfrm>
          <a:prstGeom prst="rect">
            <a:avLst/>
          </a:prstGeom>
          <a:noFill/>
          <a:ln/>
        </p:spPr>
        <p:txBody>
          <a:bodyPr wrap="square" lIns="0" tIns="0" rIns="0" bIns="0" rtlCol="0" anchor="ctr">
            <a:normAutofit/>
          </a:bodyPr>
          <a:lstStyle/>
          <a:p>
            <a:pPr indent="0" marL="0">
              <a:buNone/>
            </a:pPr>
            <a:r>
              <a:rPr lang="en-US" sz="1400" dirty="0">
                <a:solidFill>
                  <a:srgbClr val="334155"/>
                </a:solidFill>
                <a:latin typeface="Aptos" pitchFamily="34" charset="0"/>
                <a:ea typeface="Aptos" pitchFamily="34" charset="-122"/>
                <a:cs typeface="Aptos" pitchFamily="34" charset="-120"/>
              </a:rPr>
              <a:t>crop type • rainfall • temperature • fertilizer • N • P • K</a:t>
            </a:r>
            <a:endParaRPr lang="en-US" sz="1400" dirty="0"/>
          </a:p>
        </p:txBody>
      </p:sp>
      <p:sp>
        <p:nvSpPr>
          <p:cNvPr id="7" name="Text 5"/>
          <p:cNvSpPr/>
          <p:nvPr/>
        </p:nvSpPr>
        <p:spPr>
          <a:xfrm>
            <a:off x="4892040" y="1993392"/>
            <a:ext cx="594360" cy="502920"/>
          </a:xfrm>
          <a:prstGeom prst="rect">
            <a:avLst/>
          </a:prstGeom>
          <a:noFill/>
          <a:ln/>
        </p:spPr>
        <p:txBody>
          <a:bodyPr wrap="square" lIns="0" tIns="0" rIns="0" bIns="0" rtlCol="0" anchor="ctr"/>
          <a:lstStyle/>
          <a:p>
            <a:pPr algn="ctr" indent="0" marL="0">
              <a:buNone/>
            </a:pPr>
            <a:r>
              <a:rPr lang="en-US" sz="3500" b="1" dirty="0">
                <a:solidFill>
                  <a:srgbClr val="D97706"/>
                </a:solidFill>
                <a:latin typeface="Aptos Display" pitchFamily="34" charset="0"/>
                <a:ea typeface="Aptos Display" pitchFamily="34" charset="-122"/>
                <a:cs typeface="Aptos Display" pitchFamily="34" charset="-120"/>
              </a:rPr>
              <a:t>→</a:t>
            </a:r>
            <a:endParaRPr lang="en-US" sz="3500" dirty="0"/>
          </a:p>
        </p:txBody>
      </p:sp>
      <p:sp>
        <p:nvSpPr>
          <p:cNvPr id="8" name="Shape 6"/>
          <p:cNvSpPr/>
          <p:nvPr/>
        </p:nvSpPr>
        <p:spPr>
          <a:xfrm>
            <a:off x="5806440" y="868680"/>
            <a:ext cx="5349240" cy="749808"/>
          </a:xfrm>
          <a:prstGeom prst="roundRect">
            <a:avLst>
              <a:gd name="adj" fmla="val 15854"/>
            </a:avLst>
          </a:prstGeom>
          <a:solidFill>
            <a:srgbClr val="FFFFFF"/>
          </a:solidFill>
          <a:ln w="10160">
            <a:solidFill>
              <a:srgbClr val="D1D5DB"/>
            </a:solidFill>
            <a:prstDash val="solid"/>
          </a:ln>
        </p:spPr>
      </p:sp>
      <p:sp>
        <p:nvSpPr>
          <p:cNvPr id="9" name="Text 7"/>
          <p:cNvSpPr/>
          <p:nvPr/>
        </p:nvSpPr>
        <p:spPr>
          <a:xfrm>
            <a:off x="6053328" y="1014984"/>
            <a:ext cx="1627632" cy="201168"/>
          </a:xfrm>
          <a:prstGeom prst="rect">
            <a:avLst/>
          </a:prstGeom>
          <a:noFill/>
          <a:ln/>
        </p:spPr>
        <p:txBody>
          <a:bodyPr wrap="square" lIns="0" tIns="0" rIns="0" bIns="0" rtlCol="0" anchor="ctr"/>
          <a:lstStyle/>
          <a:p>
            <a:pPr indent="0" marL="0">
              <a:buNone/>
            </a:pPr>
            <a:r>
              <a:rPr lang="en-US" sz="1250" b="1" dirty="0">
                <a:solidFill>
                  <a:srgbClr val="1B4332"/>
                </a:solidFill>
                <a:latin typeface="Aptos" pitchFamily="34" charset="0"/>
                <a:ea typeface="Aptos" pitchFamily="34" charset="-122"/>
                <a:cs typeface="Aptos" pitchFamily="34" charset="-120"/>
              </a:rPr>
              <a:t>Total NPK</a:t>
            </a:r>
            <a:endParaRPr lang="en-US" sz="1250" dirty="0"/>
          </a:p>
        </p:txBody>
      </p:sp>
      <p:sp>
        <p:nvSpPr>
          <p:cNvPr id="10" name="Text 8"/>
          <p:cNvSpPr/>
          <p:nvPr/>
        </p:nvSpPr>
        <p:spPr>
          <a:xfrm>
            <a:off x="7726680" y="1014984"/>
            <a:ext cx="1737360" cy="201168"/>
          </a:xfrm>
          <a:prstGeom prst="rect">
            <a:avLst/>
          </a:prstGeom>
          <a:noFill/>
          <a:ln/>
        </p:spPr>
        <p:txBody>
          <a:bodyPr wrap="square" lIns="0" tIns="0" rIns="0" bIns="0" rtlCol="0" anchor="ctr"/>
          <a:lstStyle/>
          <a:p>
            <a:pPr indent="0" marL="0">
              <a:buNone/>
            </a:pPr>
            <a:r>
              <a:rPr lang="en-US" sz="1150" dirty="0">
                <a:solidFill>
                  <a:srgbClr val="334155"/>
                </a:solidFill>
                <a:latin typeface="Aptos" pitchFamily="34" charset="0"/>
                <a:ea typeface="Aptos" pitchFamily="34" charset="-122"/>
                <a:cs typeface="Aptos" pitchFamily="34" charset="-120"/>
              </a:rPr>
              <a:t>N + P + K</a:t>
            </a:r>
            <a:endParaRPr lang="en-US" sz="1150" dirty="0"/>
          </a:p>
        </p:txBody>
      </p:sp>
      <p:sp>
        <p:nvSpPr>
          <p:cNvPr id="11" name="Text 9"/>
          <p:cNvSpPr/>
          <p:nvPr/>
        </p:nvSpPr>
        <p:spPr>
          <a:xfrm>
            <a:off x="9464040" y="1014984"/>
            <a:ext cx="1417320" cy="201168"/>
          </a:xfrm>
          <a:prstGeom prst="rect">
            <a:avLst/>
          </a:prstGeom>
          <a:noFill/>
          <a:ln/>
        </p:spPr>
        <p:txBody>
          <a:bodyPr wrap="square" lIns="0" tIns="0" rIns="0" bIns="0" rtlCol="0" anchor="ctr"/>
          <a:lstStyle/>
          <a:p>
            <a:pPr indent="0" marL="0">
              <a:buNone/>
            </a:pPr>
            <a:r>
              <a:rPr lang="en-US" sz="1150" dirty="0">
                <a:solidFill>
                  <a:srgbClr val="64748B"/>
                </a:solidFill>
                <a:latin typeface="Aptos" pitchFamily="34" charset="0"/>
                <a:ea typeface="Aptos" pitchFamily="34" charset="-122"/>
                <a:cs typeface="Aptos" pitchFamily="34" charset="-120"/>
              </a:rPr>
              <a:t>combined nutrient level</a:t>
            </a:r>
            <a:endParaRPr lang="en-US" sz="1150" dirty="0"/>
          </a:p>
        </p:txBody>
      </p:sp>
      <p:sp>
        <p:nvSpPr>
          <p:cNvPr id="12" name="Shape 10"/>
          <p:cNvSpPr/>
          <p:nvPr/>
        </p:nvSpPr>
        <p:spPr>
          <a:xfrm>
            <a:off x="5806440" y="1856232"/>
            <a:ext cx="5349240" cy="749808"/>
          </a:xfrm>
          <a:prstGeom prst="roundRect">
            <a:avLst>
              <a:gd name="adj" fmla="val 15854"/>
            </a:avLst>
          </a:prstGeom>
          <a:solidFill>
            <a:srgbClr val="F0FDF4"/>
          </a:solidFill>
          <a:ln w="10160">
            <a:solidFill>
              <a:srgbClr val="D1D5DB"/>
            </a:solidFill>
            <a:prstDash val="solid"/>
          </a:ln>
        </p:spPr>
      </p:sp>
      <p:sp>
        <p:nvSpPr>
          <p:cNvPr id="13" name="Text 11"/>
          <p:cNvSpPr/>
          <p:nvPr/>
        </p:nvSpPr>
        <p:spPr>
          <a:xfrm>
            <a:off x="6053328" y="2002536"/>
            <a:ext cx="1627632" cy="201168"/>
          </a:xfrm>
          <a:prstGeom prst="rect">
            <a:avLst/>
          </a:prstGeom>
          <a:noFill/>
          <a:ln/>
        </p:spPr>
        <p:txBody>
          <a:bodyPr wrap="square" lIns="0" tIns="0" rIns="0" bIns="0" rtlCol="0" anchor="ctr"/>
          <a:lstStyle/>
          <a:p>
            <a:pPr indent="0" marL="0">
              <a:buNone/>
            </a:pPr>
            <a:r>
              <a:rPr lang="en-US" sz="1250" b="1" dirty="0">
                <a:solidFill>
                  <a:srgbClr val="1B4332"/>
                </a:solidFill>
                <a:latin typeface="Aptos" pitchFamily="34" charset="0"/>
                <a:ea typeface="Aptos" pitchFamily="34" charset="-122"/>
                <a:cs typeface="Aptos" pitchFamily="34" charset="-120"/>
              </a:rPr>
              <a:t>N proportion</a:t>
            </a:r>
            <a:endParaRPr lang="en-US" sz="1250" dirty="0"/>
          </a:p>
        </p:txBody>
      </p:sp>
      <p:sp>
        <p:nvSpPr>
          <p:cNvPr id="14" name="Text 12"/>
          <p:cNvSpPr/>
          <p:nvPr/>
        </p:nvSpPr>
        <p:spPr>
          <a:xfrm>
            <a:off x="7726680" y="2002536"/>
            <a:ext cx="1737360" cy="201168"/>
          </a:xfrm>
          <a:prstGeom prst="rect">
            <a:avLst/>
          </a:prstGeom>
          <a:noFill/>
          <a:ln/>
        </p:spPr>
        <p:txBody>
          <a:bodyPr wrap="square" lIns="0" tIns="0" rIns="0" bIns="0" rtlCol="0" anchor="ctr"/>
          <a:lstStyle/>
          <a:p>
            <a:pPr indent="0" marL="0">
              <a:buNone/>
            </a:pPr>
            <a:r>
              <a:rPr lang="en-US" sz="1150" dirty="0">
                <a:solidFill>
                  <a:srgbClr val="334155"/>
                </a:solidFill>
                <a:latin typeface="Aptos" pitchFamily="34" charset="0"/>
                <a:ea typeface="Aptos" pitchFamily="34" charset="-122"/>
                <a:cs typeface="Aptos" pitchFamily="34" charset="-120"/>
              </a:rPr>
              <a:t>N / (N+P+K)</a:t>
            </a:r>
            <a:endParaRPr lang="en-US" sz="1150" dirty="0"/>
          </a:p>
        </p:txBody>
      </p:sp>
      <p:sp>
        <p:nvSpPr>
          <p:cNvPr id="15" name="Text 13"/>
          <p:cNvSpPr/>
          <p:nvPr/>
        </p:nvSpPr>
        <p:spPr>
          <a:xfrm>
            <a:off x="9464040" y="2002536"/>
            <a:ext cx="1417320" cy="201168"/>
          </a:xfrm>
          <a:prstGeom prst="rect">
            <a:avLst/>
          </a:prstGeom>
          <a:noFill/>
          <a:ln/>
        </p:spPr>
        <p:txBody>
          <a:bodyPr wrap="square" lIns="0" tIns="0" rIns="0" bIns="0" rtlCol="0" anchor="ctr"/>
          <a:lstStyle/>
          <a:p>
            <a:pPr indent="0" marL="0">
              <a:buNone/>
            </a:pPr>
            <a:r>
              <a:rPr lang="en-US" sz="1150" dirty="0">
                <a:solidFill>
                  <a:srgbClr val="64748B"/>
                </a:solidFill>
                <a:latin typeface="Aptos" pitchFamily="34" charset="0"/>
                <a:ea typeface="Aptos" pitchFamily="34" charset="-122"/>
                <a:cs typeface="Aptos" pitchFamily="34" charset="-120"/>
              </a:rPr>
              <a:t>nutrient balance</a:t>
            </a:r>
            <a:endParaRPr lang="en-US" sz="1150" dirty="0"/>
          </a:p>
        </p:txBody>
      </p:sp>
      <p:sp>
        <p:nvSpPr>
          <p:cNvPr id="16" name="Shape 14"/>
          <p:cNvSpPr/>
          <p:nvPr/>
        </p:nvSpPr>
        <p:spPr>
          <a:xfrm>
            <a:off x="5806440" y="2843784"/>
            <a:ext cx="5349240" cy="749808"/>
          </a:xfrm>
          <a:prstGeom prst="roundRect">
            <a:avLst>
              <a:gd name="adj" fmla="val 15854"/>
            </a:avLst>
          </a:prstGeom>
          <a:solidFill>
            <a:srgbClr val="FFFFFF"/>
          </a:solidFill>
          <a:ln w="10160">
            <a:solidFill>
              <a:srgbClr val="D1D5DB"/>
            </a:solidFill>
            <a:prstDash val="solid"/>
          </a:ln>
        </p:spPr>
      </p:sp>
      <p:sp>
        <p:nvSpPr>
          <p:cNvPr id="17" name="Text 15"/>
          <p:cNvSpPr/>
          <p:nvPr/>
        </p:nvSpPr>
        <p:spPr>
          <a:xfrm>
            <a:off x="6053328" y="2990088"/>
            <a:ext cx="1627632" cy="201168"/>
          </a:xfrm>
          <a:prstGeom prst="rect">
            <a:avLst/>
          </a:prstGeom>
          <a:noFill/>
          <a:ln/>
        </p:spPr>
        <p:txBody>
          <a:bodyPr wrap="square" lIns="0" tIns="0" rIns="0" bIns="0" rtlCol="0" anchor="ctr"/>
          <a:lstStyle/>
          <a:p>
            <a:pPr indent="0" marL="0">
              <a:buNone/>
            </a:pPr>
            <a:r>
              <a:rPr lang="en-US" sz="1250" b="1" dirty="0">
                <a:solidFill>
                  <a:srgbClr val="1B4332"/>
                </a:solidFill>
                <a:latin typeface="Aptos" pitchFamily="34" charset="0"/>
                <a:ea typeface="Aptos" pitchFamily="34" charset="-122"/>
                <a:cs typeface="Aptos" pitchFamily="34" charset="-120"/>
              </a:rPr>
              <a:t>P proportion</a:t>
            </a:r>
            <a:endParaRPr lang="en-US" sz="1250" dirty="0"/>
          </a:p>
        </p:txBody>
      </p:sp>
      <p:sp>
        <p:nvSpPr>
          <p:cNvPr id="18" name="Text 16"/>
          <p:cNvSpPr/>
          <p:nvPr/>
        </p:nvSpPr>
        <p:spPr>
          <a:xfrm>
            <a:off x="7726680" y="2990088"/>
            <a:ext cx="1737360" cy="201168"/>
          </a:xfrm>
          <a:prstGeom prst="rect">
            <a:avLst/>
          </a:prstGeom>
          <a:noFill/>
          <a:ln/>
        </p:spPr>
        <p:txBody>
          <a:bodyPr wrap="square" lIns="0" tIns="0" rIns="0" bIns="0" rtlCol="0" anchor="ctr"/>
          <a:lstStyle/>
          <a:p>
            <a:pPr indent="0" marL="0">
              <a:buNone/>
            </a:pPr>
            <a:r>
              <a:rPr lang="en-US" sz="1150" dirty="0">
                <a:solidFill>
                  <a:srgbClr val="334155"/>
                </a:solidFill>
                <a:latin typeface="Aptos" pitchFamily="34" charset="0"/>
                <a:ea typeface="Aptos" pitchFamily="34" charset="-122"/>
                <a:cs typeface="Aptos" pitchFamily="34" charset="-120"/>
              </a:rPr>
              <a:t>P / (N+P+K)</a:t>
            </a:r>
            <a:endParaRPr lang="en-US" sz="1150" dirty="0"/>
          </a:p>
        </p:txBody>
      </p:sp>
      <p:sp>
        <p:nvSpPr>
          <p:cNvPr id="19" name="Text 17"/>
          <p:cNvSpPr/>
          <p:nvPr/>
        </p:nvSpPr>
        <p:spPr>
          <a:xfrm>
            <a:off x="9464040" y="2990088"/>
            <a:ext cx="1417320" cy="201168"/>
          </a:xfrm>
          <a:prstGeom prst="rect">
            <a:avLst/>
          </a:prstGeom>
          <a:noFill/>
          <a:ln/>
        </p:spPr>
        <p:txBody>
          <a:bodyPr wrap="square" lIns="0" tIns="0" rIns="0" bIns="0" rtlCol="0" anchor="ctr"/>
          <a:lstStyle/>
          <a:p>
            <a:pPr indent="0" marL="0">
              <a:buNone/>
            </a:pPr>
            <a:r>
              <a:rPr lang="en-US" sz="1150" dirty="0">
                <a:solidFill>
                  <a:srgbClr val="64748B"/>
                </a:solidFill>
                <a:latin typeface="Aptos" pitchFamily="34" charset="0"/>
                <a:ea typeface="Aptos" pitchFamily="34" charset="-122"/>
                <a:cs typeface="Aptos" pitchFamily="34" charset="-120"/>
              </a:rPr>
              <a:t>nutrient balance</a:t>
            </a:r>
            <a:endParaRPr lang="en-US" sz="1150" dirty="0"/>
          </a:p>
        </p:txBody>
      </p:sp>
      <p:sp>
        <p:nvSpPr>
          <p:cNvPr id="20" name="Shape 18"/>
          <p:cNvSpPr/>
          <p:nvPr/>
        </p:nvSpPr>
        <p:spPr>
          <a:xfrm>
            <a:off x="5806440" y="3831336"/>
            <a:ext cx="5349240" cy="749808"/>
          </a:xfrm>
          <a:prstGeom prst="roundRect">
            <a:avLst>
              <a:gd name="adj" fmla="val 15854"/>
            </a:avLst>
          </a:prstGeom>
          <a:solidFill>
            <a:srgbClr val="F0FDF4"/>
          </a:solidFill>
          <a:ln w="10160">
            <a:solidFill>
              <a:srgbClr val="D1D5DB"/>
            </a:solidFill>
            <a:prstDash val="solid"/>
          </a:ln>
        </p:spPr>
      </p:sp>
      <p:sp>
        <p:nvSpPr>
          <p:cNvPr id="21" name="Text 19"/>
          <p:cNvSpPr/>
          <p:nvPr/>
        </p:nvSpPr>
        <p:spPr>
          <a:xfrm>
            <a:off x="6053328" y="3977640"/>
            <a:ext cx="1627632" cy="201168"/>
          </a:xfrm>
          <a:prstGeom prst="rect">
            <a:avLst/>
          </a:prstGeom>
          <a:noFill/>
          <a:ln/>
        </p:spPr>
        <p:txBody>
          <a:bodyPr wrap="square" lIns="0" tIns="0" rIns="0" bIns="0" rtlCol="0" anchor="ctr"/>
          <a:lstStyle/>
          <a:p>
            <a:pPr indent="0" marL="0">
              <a:buNone/>
            </a:pPr>
            <a:r>
              <a:rPr lang="en-US" sz="1250" b="1" dirty="0">
                <a:solidFill>
                  <a:srgbClr val="1B4332"/>
                </a:solidFill>
                <a:latin typeface="Aptos" pitchFamily="34" charset="0"/>
                <a:ea typeface="Aptos" pitchFamily="34" charset="-122"/>
                <a:cs typeface="Aptos" pitchFamily="34" charset="-120"/>
              </a:rPr>
              <a:t>Temperature²</a:t>
            </a:r>
            <a:endParaRPr lang="en-US" sz="1250" dirty="0"/>
          </a:p>
        </p:txBody>
      </p:sp>
      <p:sp>
        <p:nvSpPr>
          <p:cNvPr id="22" name="Text 20"/>
          <p:cNvSpPr/>
          <p:nvPr/>
        </p:nvSpPr>
        <p:spPr>
          <a:xfrm>
            <a:off x="7726680" y="3977640"/>
            <a:ext cx="1737360" cy="201168"/>
          </a:xfrm>
          <a:prstGeom prst="rect">
            <a:avLst/>
          </a:prstGeom>
          <a:noFill/>
          <a:ln/>
        </p:spPr>
        <p:txBody>
          <a:bodyPr wrap="square" lIns="0" tIns="0" rIns="0" bIns="0" rtlCol="0" anchor="ctr"/>
          <a:lstStyle/>
          <a:p>
            <a:pPr indent="0" marL="0">
              <a:buNone/>
            </a:pPr>
            <a:r>
              <a:rPr lang="en-US" sz="1150" dirty="0">
                <a:solidFill>
                  <a:srgbClr val="334155"/>
                </a:solidFill>
                <a:latin typeface="Aptos" pitchFamily="34" charset="0"/>
                <a:ea typeface="Aptos" pitchFamily="34" charset="-122"/>
                <a:cs typeface="Aptos" pitchFamily="34" charset="-120"/>
              </a:rPr>
              <a:t>temperature × temperature</a:t>
            </a:r>
            <a:endParaRPr lang="en-US" sz="1150" dirty="0"/>
          </a:p>
        </p:txBody>
      </p:sp>
      <p:sp>
        <p:nvSpPr>
          <p:cNvPr id="23" name="Text 21"/>
          <p:cNvSpPr/>
          <p:nvPr/>
        </p:nvSpPr>
        <p:spPr>
          <a:xfrm>
            <a:off x="9464040" y="3977640"/>
            <a:ext cx="1417320" cy="201168"/>
          </a:xfrm>
          <a:prstGeom prst="rect">
            <a:avLst/>
          </a:prstGeom>
          <a:noFill/>
          <a:ln/>
        </p:spPr>
        <p:txBody>
          <a:bodyPr wrap="square" lIns="0" tIns="0" rIns="0" bIns="0" rtlCol="0" anchor="ctr"/>
          <a:lstStyle/>
          <a:p>
            <a:pPr indent="0" marL="0">
              <a:buNone/>
            </a:pPr>
            <a:r>
              <a:rPr lang="en-US" sz="1150" dirty="0">
                <a:solidFill>
                  <a:srgbClr val="64748B"/>
                </a:solidFill>
                <a:latin typeface="Aptos" pitchFamily="34" charset="0"/>
                <a:ea typeface="Aptos" pitchFamily="34" charset="-122"/>
                <a:cs typeface="Aptos" pitchFamily="34" charset="-120"/>
              </a:rPr>
              <a:t>nonlinear heat effect</a:t>
            </a:r>
            <a:endParaRPr lang="en-US" sz="1150" dirty="0"/>
          </a:p>
        </p:txBody>
      </p:sp>
      <p:sp>
        <p:nvSpPr>
          <p:cNvPr id="24" name="Shape 22"/>
          <p:cNvSpPr/>
          <p:nvPr/>
        </p:nvSpPr>
        <p:spPr>
          <a:xfrm>
            <a:off x="5806440" y="4818888"/>
            <a:ext cx="5349240" cy="749808"/>
          </a:xfrm>
          <a:prstGeom prst="roundRect">
            <a:avLst>
              <a:gd name="adj" fmla="val 15854"/>
            </a:avLst>
          </a:prstGeom>
          <a:solidFill>
            <a:srgbClr val="FFFFFF"/>
          </a:solidFill>
          <a:ln w="10160">
            <a:solidFill>
              <a:srgbClr val="D1D5DB"/>
            </a:solidFill>
            <a:prstDash val="solid"/>
          </a:ln>
        </p:spPr>
      </p:sp>
      <p:sp>
        <p:nvSpPr>
          <p:cNvPr id="25" name="Text 23"/>
          <p:cNvSpPr/>
          <p:nvPr/>
        </p:nvSpPr>
        <p:spPr>
          <a:xfrm>
            <a:off x="6053328" y="4965192"/>
            <a:ext cx="1627632" cy="201168"/>
          </a:xfrm>
          <a:prstGeom prst="rect">
            <a:avLst/>
          </a:prstGeom>
          <a:noFill/>
          <a:ln/>
        </p:spPr>
        <p:txBody>
          <a:bodyPr wrap="square" lIns="0" tIns="0" rIns="0" bIns="0" rtlCol="0" anchor="ctr"/>
          <a:lstStyle/>
          <a:p>
            <a:pPr indent="0" marL="0">
              <a:buNone/>
            </a:pPr>
            <a:r>
              <a:rPr lang="en-US" sz="1250" b="1" dirty="0">
                <a:solidFill>
                  <a:srgbClr val="1B4332"/>
                </a:solidFill>
                <a:latin typeface="Aptos" pitchFamily="34" charset="0"/>
                <a:ea typeface="Aptos" pitchFamily="34" charset="-122"/>
                <a:cs typeface="Aptos" pitchFamily="34" charset="-120"/>
              </a:rPr>
              <a:t>Rainfall × fertilizer</a:t>
            </a:r>
            <a:endParaRPr lang="en-US" sz="1250" dirty="0"/>
          </a:p>
        </p:txBody>
      </p:sp>
      <p:sp>
        <p:nvSpPr>
          <p:cNvPr id="26" name="Text 24"/>
          <p:cNvSpPr/>
          <p:nvPr/>
        </p:nvSpPr>
        <p:spPr>
          <a:xfrm>
            <a:off x="7726680" y="4965192"/>
            <a:ext cx="1737360" cy="201168"/>
          </a:xfrm>
          <a:prstGeom prst="rect">
            <a:avLst/>
          </a:prstGeom>
          <a:noFill/>
          <a:ln/>
        </p:spPr>
        <p:txBody>
          <a:bodyPr wrap="square" lIns="0" tIns="0" rIns="0" bIns="0" rtlCol="0" anchor="ctr"/>
          <a:lstStyle/>
          <a:p>
            <a:pPr indent="0" marL="0">
              <a:buNone/>
            </a:pPr>
            <a:r>
              <a:rPr lang="en-US" sz="1150" dirty="0">
                <a:solidFill>
                  <a:srgbClr val="334155"/>
                </a:solidFill>
                <a:latin typeface="Aptos" pitchFamily="34" charset="0"/>
                <a:ea typeface="Aptos" pitchFamily="34" charset="-122"/>
                <a:cs typeface="Aptos" pitchFamily="34" charset="-120"/>
              </a:rPr>
              <a:t>rainfall × fertilizer</a:t>
            </a:r>
            <a:endParaRPr lang="en-US" sz="1150" dirty="0"/>
          </a:p>
        </p:txBody>
      </p:sp>
      <p:sp>
        <p:nvSpPr>
          <p:cNvPr id="27" name="Text 25"/>
          <p:cNvSpPr/>
          <p:nvPr/>
        </p:nvSpPr>
        <p:spPr>
          <a:xfrm>
            <a:off x="9464040" y="4965192"/>
            <a:ext cx="1417320" cy="201168"/>
          </a:xfrm>
          <a:prstGeom prst="rect">
            <a:avLst/>
          </a:prstGeom>
          <a:noFill/>
          <a:ln/>
        </p:spPr>
        <p:txBody>
          <a:bodyPr wrap="square" lIns="0" tIns="0" rIns="0" bIns="0" rtlCol="0" anchor="ctr"/>
          <a:lstStyle/>
          <a:p>
            <a:pPr indent="0" marL="0">
              <a:buNone/>
            </a:pPr>
            <a:r>
              <a:rPr lang="en-US" sz="1150" dirty="0">
                <a:solidFill>
                  <a:srgbClr val="64748B"/>
                </a:solidFill>
                <a:latin typeface="Aptos" pitchFamily="34" charset="0"/>
                <a:ea typeface="Aptos" pitchFamily="34" charset="-122"/>
                <a:cs typeface="Aptos" pitchFamily="34" charset="-120"/>
              </a:rPr>
              <a:t>input synergy</a:t>
            </a:r>
            <a:endParaRPr lang="en-US" sz="1150" dirty="0"/>
          </a:p>
        </p:txBody>
      </p:sp>
      <p:sp>
        <p:nvSpPr>
          <p:cNvPr id="28" name="Shape 26"/>
          <p:cNvSpPr/>
          <p:nvPr/>
        </p:nvSpPr>
        <p:spPr>
          <a:xfrm>
            <a:off x="685800" y="3017520"/>
            <a:ext cx="4251960" cy="1005840"/>
          </a:xfrm>
          <a:prstGeom prst="roundRect">
            <a:avLst>
              <a:gd name="adj" fmla="val 10909"/>
            </a:avLst>
          </a:prstGeom>
          <a:solidFill>
            <a:srgbClr val="FFFFFF"/>
          </a:solidFill>
          <a:ln w="15240">
            <a:solidFill>
              <a:srgbClr val="1B4332"/>
            </a:solidFill>
            <a:prstDash val="solid"/>
          </a:ln>
        </p:spPr>
      </p:sp>
      <p:sp>
        <p:nvSpPr>
          <p:cNvPr id="29" name="Text 27"/>
          <p:cNvSpPr/>
          <p:nvPr/>
        </p:nvSpPr>
        <p:spPr>
          <a:xfrm>
            <a:off x="850392" y="3136392"/>
            <a:ext cx="3922776" cy="804672"/>
          </a:xfrm>
          <a:prstGeom prst="rect">
            <a:avLst/>
          </a:prstGeom>
          <a:noFill/>
          <a:ln/>
        </p:spPr>
        <p:txBody>
          <a:bodyPr wrap="square" lIns="254" tIns="254" rIns="254" bIns="254" rtlCol="0" anchor="ctr">
            <a:normAutofit/>
          </a:bodyPr>
          <a:lstStyle/>
          <a:p>
            <a:pPr indent="0" marL="0">
              <a:buNone/>
            </a:pPr>
            <a:r>
              <a:rPr lang="en-US" sz="1300" dirty="0">
                <a:solidFill>
                  <a:srgbClr val="334155"/>
                </a:solidFill>
                <a:latin typeface="Aptos" pitchFamily="34" charset="0"/>
                <a:ea typeface="Aptos" pitchFamily="34" charset="-122"/>
                <a:cs typeface="Aptos" pitchFamily="34" charset="-120"/>
              </a:rPr>
              <a:t>Feature engineering made the data more agronomically meaningful, but it could not create information that was missing from the original dataset.</a:t>
            </a:r>
            <a:endParaRPr lang="en-US" sz="1300" dirty="0"/>
          </a:p>
        </p:txBody>
      </p:sp>
      <p:sp>
        <p:nvSpPr>
          <p:cNvPr id="30" name="Shape 28"/>
          <p:cNvSpPr/>
          <p:nvPr/>
        </p:nvSpPr>
        <p:spPr>
          <a:xfrm>
            <a:off x="758952" y="4389120"/>
            <a:ext cx="3968496" cy="1545336"/>
          </a:xfrm>
          <a:prstGeom prst="roundRect">
            <a:avLst>
              <a:gd name="adj" fmla="val 7101"/>
            </a:avLst>
          </a:prstGeom>
          <a:solidFill>
            <a:srgbClr val="FFFFFF"/>
          </a:solidFill>
          <a:ln w="12700">
            <a:solidFill>
              <a:srgbClr val="E5E7EB"/>
            </a:solidFill>
            <a:prstDash val="solid"/>
          </a:ln>
        </p:spPr>
      </p:sp>
      <p:pic>
        <p:nvPicPr>
          <p:cNvPr id="31" name="Image 0" descr="/mnt/data/extracted_report_images/p32_img1.png">    </p:cNvPr>
          <p:cNvPicPr>
            <a:picLocks noChangeAspect="1"/>
          </p:cNvPicPr>
          <p:nvPr/>
        </p:nvPicPr>
        <p:blipFill>
          <a:blip r:embed="rId1"/>
          <a:stretch>
            <a:fillRect/>
          </a:stretch>
        </p:blipFill>
        <p:spPr>
          <a:xfrm>
            <a:off x="1607363" y="4407408"/>
            <a:ext cx="2271674" cy="1508760"/>
          </a:xfrm>
          <a:prstGeom prst="rect">
            <a:avLst/>
          </a:prstGeom>
        </p:spPr>
      </p:pic>
      <p:sp>
        <p:nvSpPr>
          <p:cNvPr id="32" name="Text 29"/>
          <p:cNvSpPr/>
          <p:nvPr/>
        </p:nvSpPr>
        <p:spPr>
          <a:xfrm>
            <a:off x="5806440" y="5715000"/>
            <a:ext cx="5303520" cy="274320"/>
          </a:xfrm>
          <a:prstGeom prst="rect">
            <a:avLst/>
          </a:prstGeom>
          <a:noFill/>
          <a:ln/>
        </p:spPr>
        <p:txBody>
          <a:bodyPr wrap="square" lIns="0" tIns="0" rIns="0" bIns="0" rtlCol="0" anchor="ctr"/>
          <a:lstStyle/>
          <a:p>
            <a:pPr algn="ctr" indent="0" marL="0">
              <a:buNone/>
            </a:pPr>
            <a:r>
              <a:rPr lang="en-US" sz="1700" b="1" dirty="0">
                <a:solidFill>
                  <a:srgbClr val="334155"/>
                </a:solidFill>
                <a:latin typeface="Aptos Display" pitchFamily="34" charset="0"/>
                <a:ea typeface="Aptos Display" pitchFamily="34" charset="-122"/>
                <a:cs typeface="Aptos Display" pitchFamily="34" charset="-120"/>
              </a:rPr>
              <a:t>This helped interpretation more than prediction.</a:t>
            </a:r>
            <a:endParaRPr lang="en-US" sz="1700" dirty="0"/>
          </a:p>
        </p:txBody>
      </p:sp>
      <p:sp>
        <p:nvSpPr>
          <p:cNvPr id="33" name="Text 30"/>
          <p:cNvSpPr/>
          <p:nvPr/>
        </p:nvSpPr>
        <p:spPr>
          <a:xfrm>
            <a:off x="11109960" y="6446520"/>
            <a:ext cx="548640" cy="201168"/>
          </a:xfrm>
          <a:prstGeom prst="rect">
            <a:avLst/>
          </a:prstGeom>
          <a:noFill/>
          <a:ln/>
        </p:spPr>
        <p:txBody>
          <a:bodyPr wrap="square" lIns="0" tIns="0" rIns="0" bIns="0" rtlCol="0" anchor="ctr"/>
          <a:lstStyle/>
          <a:p>
            <a:pPr algn="r" indent="0" marL="0">
              <a:buNone/>
            </a:pPr>
            <a:r>
              <a:rPr lang="en-US" sz="900" dirty="0">
                <a:solidFill>
                  <a:srgbClr val="94A3B8"/>
                </a:solidFill>
                <a:latin typeface="Aptos" pitchFamily="34" charset="0"/>
                <a:ea typeface="Aptos" pitchFamily="34" charset="-122"/>
                <a:cs typeface="Aptos"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2E8"/>
        </a:solidFill>
      </p:bgPr>
    </p:bg>
    <p:spTree>
      <p:nvGrpSpPr>
        <p:cNvPr id="1" name=""/>
        <p:cNvGrpSpPr/>
        <p:nvPr/>
      </p:nvGrpSpPr>
      <p:grpSpPr>
        <a:xfrm>
          <a:off x="0" y="0"/>
          <a:ext cx="0" cy="0"/>
          <a:chOff x="0" y="0"/>
          <a:chExt cx="0" cy="0"/>
        </a:xfrm>
      </p:grpSpPr>
      <p:sp>
        <p:nvSpPr>
          <p:cNvPr id="2" name="Text 0"/>
          <p:cNvSpPr/>
          <p:nvPr/>
        </p:nvSpPr>
        <p:spPr>
          <a:xfrm>
            <a:off x="502920" y="329184"/>
            <a:ext cx="7406640" cy="329184"/>
          </a:xfrm>
          <a:prstGeom prst="rect">
            <a:avLst/>
          </a:prstGeom>
          <a:noFill/>
          <a:ln/>
        </p:spPr>
        <p:txBody>
          <a:bodyPr wrap="square" lIns="0" tIns="0" rIns="0" bIns="0" rtlCol="0" anchor="ctr"/>
          <a:lstStyle/>
          <a:p>
            <a:pPr indent="0" marL="0">
              <a:buNone/>
            </a:pPr>
            <a:r>
              <a:rPr lang="en-US" sz="2300" b="1" dirty="0">
                <a:solidFill>
                  <a:srgbClr val="1B4332"/>
                </a:solidFill>
                <a:latin typeface="Aptos Display" pitchFamily="34" charset="0"/>
                <a:ea typeface="Aptos Display" pitchFamily="34" charset="-122"/>
                <a:cs typeface="Aptos Display" pitchFamily="34" charset="-120"/>
              </a:rPr>
              <a:t>We compared five modelling experiments</a:t>
            </a:r>
            <a:endParaRPr lang="en-US" sz="2300" dirty="0"/>
          </a:p>
        </p:txBody>
      </p:sp>
      <p:sp>
        <p:nvSpPr>
          <p:cNvPr id="3" name="Text 1"/>
          <p:cNvSpPr/>
          <p:nvPr/>
        </p:nvSpPr>
        <p:spPr>
          <a:xfrm>
            <a:off x="8549640" y="384048"/>
            <a:ext cx="3291840" cy="219456"/>
          </a:xfrm>
          <a:prstGeom prst="rect">
            <a:avLst/>
          </a:prstGeom>
          <a:noFill/>
          <a:ln/>
        </p:spPr>
        <p:txBody>
          <a:bodyPr wrap="square" lIns="0" tIns="0" rIns="0" bIns="0" rtlCol="0" anchor="ctr"/>
          <a:lstStyle/>
          <a:p>
            <a:pPr algn="r" indent="0" marL="0">
              <a:buNone/>
            </a:pPr>
            <a:r>
              <a:rPr lang="en-US" sz="950" dirty="0">
                <a:solidFill>
                  <a:srgbClr val="64748B"/>
                </a:solidFill>
                <a:latin typeface="Aptos" pitchFamily="34" charset="0"/>
                <a:ea typeface="Aptos" pitchFamily="34" charset="-122"/>
                <a:cs typeface="Aptos" pitchFamily="34" charset="-120"/>
              </a:rPr>
              <a:t>Gamma 2 • Crop Yield Prediction</a:t>
            </a:r>
            <a:endParaRPr lang="en-US" sz="950" dirty="0"/>
          </a:p>
        </p:txBody>
      </p:sp>
      <p:sp>
        <p:nvSpPr>
          <p:cNvPr id="4" name="Shape 2"/>
          <p:cNvSpPr/>
          <p:nvPr/>
        </p:nvSpPr>
        <p:spPr>
          <a:xfrm>
            <a:off x="502920" y="768096"/>
            <a:ext cx="11201400" cy="0"/>
          </a:xfrm>
          <a:prstGeom prst="line">
            <a:avLst/>
          </a:prstGeom>
          <a:noFill/>
          <a:ln w="12700">
            <a:solidFill>
              <a:srgbClr val="E2E8F0"/>
            </a:solidFill>
            <a:prstDash val="solid"/>
          </a:ln>
        </p:spPr>
      </p:sp>
      <p:sp>
        <p:nvSpPr>
          <p:cNvPr id="5" name="Shape 3"/>
          <p:cNvSpPr/>
          <p:nvPr/>
        </p:nvSpPr>
        <p:spPr>
          <a:xfrm>
            <a:off x="685800" y="1097280"/>
            <a:ext cx="10881360" cy="3886200"/>
          </a:xfrm>
          <a:prstGeom prst="roundRect">
            <a:avLst>
              <a:gd name="adj" fmla="val 4235"/>
            </a:avLst>
          </a:prstGeom>
          <a:solidFill>
            <a:srgbClr val="FFFFFF"/>
          </a:solidFill>
          <a:ln w="12700">
            <a:solidFill>
              <a:srgbClr val="E5E7EB"/>
            </a:solidFill>
            <a:prstDash val="solid"/>
          </a:ln>
        </p:spPr>
      </p:sp>
      <p:sp>
        <p:nvSpPr>
          <p:cNvPr id="6" name="Text 4"/>
          <p:cNvSpPr/>
          <p:nvPr/>
        </p:nvSpPr>
        <p:spPr>
          <a:xfrm>
            <a:off x="1005840" y="1325880"/>
            <a:ext cx="2926080" cy="228600"/>
          </a:xfrm>
          <a:prstGeom prst="rect">
            <a:avLst/>
          </a:prstGeom>
          <a:noFill/>
          <a:ln/>
        </p:spPr>
        <p:txBody>
          <a:bodyPr wrap="square" lIns="0" tIns="0" rIns="0" bIns="0" rtlCol="0" anchor="ctr"/>
          <a:lstStyle/>
          <a:p>
            <a:pPr indent="0" marL="0">
              <a:buNone/>
            </a:pPr>
            <a:r>
              <a:rPr lang="en-US" sz="1100" b="1" dirty="0">
                <a:solidFill>
                  <a:srgbClr val="1B4332"/>
                </a:solidFill>
                <a:latin typeface="Aptos" pitchFamily="34" charset="0"/>
                <a:ea typeface="Aptos" pitchFamily="34" charset="-122"/>
                <a:cs typeface="Aptos" pitchFamily="34" charset="-120"/>
              </a:rPr>
              <a:t>Model family</a:t>
            </a:r>
            <a:endParaRPr lang="en-US" sz="1100" dirty="0"/>
          </a:p>
        </p:txBody>
      </p:sp>
      <p:sp>
        <p:nvSpPr>
          <p:cNvPr id="7" name="Text 5"/>
          <p:cNvSpPr/>
          <p:nvPr/>
        </p:nvSpPr>
        <p:spPr>
          <a:xfrm>
            <a:off x="4389120" y="1325880"/>
            <a:ext cx="1828800" cy="228600"/>
          </a:xfrm>
          <a:prstGeom prst="rect">
            <a:avLst/>
          </a:prstGeom>
          <a:noFill/>
          <a:ln/>
        </p:spPr>
        <p:txBody>
          <a:bodyPr wrap="square" lIns="0" tIns="0" rIns="0" bIns="0" rtlCol="0" anchor="ctr"/>
          <a:lstStyle/>
          <a:p>
            <a:pPr indent="0" marL="0">
              <a:buNone/>
            </a:pPr>
            <a:r>
              <a:rPr lang="en-US" sz="1100" b="1" dirty="0">
                <a:solidFill>
                  <a:srgbClr val="1B4332"/>
                </a:solidFill>
                <a:latin typeface="Aptos" pitchFamily="34" charset="0"/>
                <a:ea typeface="Aptos" pitchFamily="34" charset="-122"/>
                <a:cs typeface="Aptos" pitchFamily="34" charset="-120"/>
              </a:rPr>
              <a:t>Feature set</a:t>
            </a:r>
            <a:endParaRPr lang="en-US" sz="1100" dirty="0"/>
          </a:p>
        </p:txBody>
      </p:sp>
      <p:sp>
        <p:nvSpPr>
          <p:cNvPr id="8" name="Text 6"/>
          <p:cNvSpPr/>
          <p:nvPr/>
        </p:nvSpPr>
        <p:spPr>
          <a:xfrm>
            <a:off x="6400800" y="1325880"/>
            <a:ext cx="3657600" cy="228600"/>
          </a:xfrm>
          <a:prstGeom prst="rect">
            <a:avLst/>
          </a:prstGeom>
          <a:noFill/>
          <a:ln/>
        </p:spPr>
        <p:txBody>
          <a:bodyPr wrap="square" lIns="0" tIns="0" rIns="0" bIns="0" rtlCol="0" anchor="ctr"/>
          <a:lstStyle/>
          <a:p>
            <a:pPr indent="0" marL="0">
              <a:buNone/>
            </a:pPr>
            <a:r>
              <a:rPr lang="en-US" sz="1100" b="1" dirty="0">
                <a:solidFill>
                  <a:srgbClr val="1B4332"/>
                </a:solidFill>
                <a:latin typeface="Aptos" pitchFamily="34" charset="0"/>
                <a:ea typeface="Aptos" pitchFamily="34" charset="-122"/>
                <a:cs typeface="Aptos" pitchFamily="34" charset="-120"/>
              </a:rPr>
              <a:t>Business purpose</a:t>
            </a:r>
            <a:endParaRPr lang="en-US" sz="1100" dirty="0"/>
          </a:p>
        </p:txBody>
      </p:sp>
      <p:sp>
        <p:nvSpPr>
          <p:cNvPr id="9" name="Text 7"/>
          <p:cNvSpPr/>
          <p:nvPr/>
        </p:nvSpPr>
        <p:spPr>
          <a:xfrm>
            <a:off x="1005840" y="1783080"/>
            <a:ext cx="2926080" cy="201168"/>
          </a:xfrm>
          <a:prstGeom prst="rect">
            <a:avLst/>
          </a:prstGeom>
          <a:noFill/>
          <a:ln/>
        </p:spPr>
        <p:txBody>
          <a:bodyPr wrap="square" lIns="0" tIns="0" rIns="0" bIns="0" rtlCol="0" anchor="ctr"/>
          <a:lstStyle/>
          <a:p>
            <a:pPr indent="0" marL="0">
              <a:buNone/>
            </a:pPr>
            <a:r>
              <a:rPr lang="en-US" sz="1230" dirty="0">
                <a:solidFill>
                  <a:srgbClr val="334155"/>
                </a:solidFill>
                <a:latin typeface="Aptos" pitchFamily="34" charset="0"/>
                <a:ea typeface="Aptos" pitchFamily="34" charset="-122"/>
                <a:cs typeface="Aptos" pitchFamily="34" charset="-120"/>
              </a:rPr>
              <a:t>Multiple Linear Regression</a:t>
            </a:r>
            <a:endParaRPr lang="en-US" sz="1230" dirty="0"/>
          </a:p>
        </p:txBody>
      </p:sp>
      <p:sp>
        <p:nvSpPr>
          <p:cNvPr id="10" name="Text 8"/>
          <p:cNvSpPr/>
          <p:nvPr/>
        </p:nvSpPr>
        <p:spPr>
          <a:xfrm>
            <a:off x="4389120" y="1783080"/>
            <a:ext cx="1828800" cy="201168"/>
          </a:xfrm>
          <a:prstGeom prst="rect">
            <a:avLst/>
          </a:prstGeom>
          <a:noFill/>
          <a:ln/>
        </p:spPr>
        <p:txBody>
          <a:bodyPr wrap="square" lIns="0" tIns="0" rIns="0" bIns="0" rtlCol="0" anchor="ctr"/>
          <a:lstStyle/>
          <a:p>
            <a:pPr indent="0" marL="0">
              <a:buNone/>
            </a:pPr>
            <a:r>
              <a:rPr lang="en-US" sz="1230" dirty="0">
                <a:solidFill>
                  <a:srgbClr val="334155"/>
                </a:solidFill>
                <a:latin typeface="Aptos" pitchFamily="34" charset="0"/>
                <a:ea typeface="Aptos" pitchFamily="34" charset="-122"/>
                <a:cs typeface="Aptos" pitchFamily="34" charset="-120"/>
              </a:rPr>
              <a:t>Original</a:t>
            </a:r>
            <a:endParaRPr lang="en-US" sz="1230" dirty="0"/>
          </a:p>
        </p:txBody>
      </p:sp>
      <p:sp>
        <p:nvSpPr>
          <p:cNvPr id="11" name="Text 9"/>
          <p:cNvSpPr/>
          <p:nvPr/>
        </p:nvSpPr>
        <p:spPr>
          <a:xfrm>
            <a:off x="6400800" y="1783080"/>
            <a:ext cx="4480560" cy="201168"/>
          </a:xfrm>
          <a:prstGeom prst="rect">
            <a:avLst/>
          </a:prstGeom>
          <a:noFill/>
          <a:ln/>
        </p:spPr>
        <p:txBody>
          <a:bodyPr wrap="square" lIns="0" tIns="0" rIns="0" bIns="0" rtlCol="0" anchor="ctr"/>
          <a:lstStyle/>
          <a:p>
            <a:pPr indent="0" marL="0">
              <a:buNone/>
            </a:pPr>
            <a:r>
              <a:rPr lang="en-US" sz="1230" dirty="0">
                <a:solidFill>
                  <a:srgbClr val="334155"/>
                </a:solidFill>
                <a:latin typeface="Aptos" pitchFamily="34" charset="0"/>
                <a:ea typeface="Aptos" pitchFamily="34" charset="-122"/>
                <a:cs typeface="Aptos" pitchFamily="34" charset="-120"/>
              </a:rPr>
              <a:t>baseline linear relationship</a:t>
            </a:r>
            <a:endParaRPr lang="en-US" sz="1230" dirty="0"/>
          </a:p>
        </p:txBody>
      </p:sp>
      <p:sp>
        <p:nvSpPr>
          <p:cNvPr id="12" name="Text 10"/>
          <p:cNvSpPr/>
          <p:nvPr/>
        </p:nvSpPr>
        <p:spPr>
          <a:xfrm>
            <a:off x="1005840" y="2404872"/>
            <a:ext cx="2926080" cy="201168"/>
          </a:xfrm>
          <a:prstGeom prst="rect">
            <a:avLst/>
          </a:prstGeom>
          <a:noFill/>
          <a:ln/>
        </p:spPr>
        <p:txBody>
          <a:bodyPr wrap="square" lIns="0" tIns="0" rIns="0" bIns="0" rtlCol="0" anchor="ctr"/>
          <a:lstStyle/>
          <a:p>
            <a:pPr indent="0" marL="0">
              <a:buNone/>
            </a:pPr>
            <a:r>
              <a:rPr lang="en-US" sz="1230" dirty="0">
                <a:solidFill>
                  <a:srgbClr val="334155"/>
                </a:solidFill>
                <a:latin typeface="Aptos" pitchFamily="34" charset="0"/>
                <a:ea typeface="Aptos" pitchFamily="34" charset="-122"/>
                <a:cs typeface="Aptos" pitchFamily="34" charset="-120"/>
              </a:rPr>
              <a:t>Multiple Linear Regression</a:t>
            </a:r>
            <a:endParaRPr lang="en-US" sz="1230" dirty="0"/>
          </a:p>
        </p:txBody>
      </p:sp>
      <p:sp>
        <p:nvSpPr>
          <p:cNvPr id="13" name="Text 11"/>
          <p:cNvSpPr/>
          <p:nvPr/>
        </p:nvSpPr>
        <p:spPr>
          <a:xfrm>
            <a:off x="4389120" y="2404872"/>
            <a:ext cx="1828800" cy="201168"/>
          </a:xfrm>
          <a:prstGeom prst="rect">
            <a:avLst/>
          </a:prstGeom>
          <a:noFill/>
          <a:ln/>
        </p:spPr>
        <p:txBody>
          <a:bodyPr wrap="square" lIns="0" tIns="0" rIns="0" bIns="0" rtlCol="0" anchor="ctr"/>
          <a:lstStyle/>
          <a:p>
            <a:pPr indent="0" marL="0">
              <a:buNone/>
            </a:pPr>
            <a:r>
              <a:rPr lang="en-US" sz="1230" dirty="0">
                <a:solidFill>
                  <a:srgbClr val="334155"/>
                </a:solidFill>
                <a:latin typeface="Aptos" pitchFamily="34" charset="0"/>
                <a:ea typeface="Aptos" pitchFamily="34" charset="-122"/>
                <a:cs typeface="Aptos" pitchFamily="34" charset="-120"/>
              </a:rPr>
              <a:t>Engineered</a:t>
            </a:r>
            <a:endParaRPr lang="en-US" sz="1230" dirty="0"/>
          </a:p>
        </p:txBody>
      </p:sp>
      <p:sp>
        <p:nvSpPr>
          <p:cNvPr id="14" name="Text 12"/>
          <p:cNvSpPr/>
          <p:nvPr/>
        </p:nvSpPr>
        <p:spPr>
          <a:xfrm>
            <a:off x="6400800" y="2404872"/>
            <a:ext cx="4480560" cy="201168"/>
          </a:xfrm>
          <a:prstGeom prst="rect">
            <a:avLst/>
          </a:prstGeom>
          <a:noFill/>
          <a:ln/>
        </p:spPr>
        <p:txBody>
          <a:bodyPr wrap="square" lIns="0" tIns="0" rIns="0" bIns="0" rtlCol="0" anchor="ctr"/>
          <a:lstStyle/>
          <a:p>
            <a:pPr indent="0" marL="0">
              <a:buNone/>
            </a:pPr>
            <a:r>
              <a:rPr lang="en-US" sz="1230" dirty="0">
                <a:solidFill>
                  <a:srgbClr val="334155"/>
                </a:solidFill>
                <a:latin typeface="Aptos" pitchFamily="34" charset="0"/>
                <a:ea typeface="Aptos" pitchFamily="34" charset="-122"/>
                <a:cs typeface="Aptos" pitchFamily="34" charset="-120"/>
              </a:rPr>
              <a:t>tests whether derived features help linear model</a:t>
            </a:r>
            <a:endParaRPr lang="en-US" sz="1230" dirty="0"/>
          </a:p>
        </p:txBody>
      </p:sp>
      <p:sp>
        <p:nvSpPr>
          <p:cNvPr id="15" name="Text 13"/>
          <p:cNvSpPr/>
          <p:nvPr/>
        </p:nvSpPr>
        <p:spPr>
          <a:xfrm>
            <a:off x="1005840" y="3026664"/>
            <a:ext cx="2926080" cy="201168"/>
          </a:xfrm>
          <a:prstGeom prst="rect">
            <a:avLst/>
          </a:prstGeom>
          <a:noFill/>
          <a:ln/>
        </p:spPr>
        <p:txBody>
          <a:bodyPr wrap="square" lIns="0" tIns="0" rIns="0" bIns="0" rtlCol="0" anchor="ctr"/>
          <a:lstStyle/>
          <a:p>
            <a:pPr indent="0" marL="0">
              <a:buNone/>
            </a:pPr>
            <a:r>
              <a:rPr lang="en-US" sz="1230" dirty="0">
                <a:solidFill>
                  <a:srgbClr val="334155"/>
                </a:solidFill>
                <a:latin typeface="Aptos" pitchFamily="34" charset="0"/>
                <a:ea typeface="Aptos" pitchFamily="34" charset="-122"/>
                <a:cs typeface="Aptos" pitchFamily="34" charset="-120"/>
              </a:rPr>
              <a:t>Random Forest</a:t>
            </a:r>
            <a:endParaRPr lang="en-US" sz="1230" dirty="0"/>
          </a:p>
        </p:txBody>
      </p:sp>
      <p:sp>
        <p:nvSpPr>
          <p:cNvPr id="16" name="Text 14"/>
          <p:cNvSpPr/>
          <p:nvPr/>
        </p:nvSpPr>
        <p:spPr>
          <a:xfrm>
            <a:off x="4389120" y="3026664"/>
            <a:ext cx="1828800" cy="201168"/>
          </a:xfrm>
          <a:prstGeom prst="rect">
            <a:avLst/>
          </a:prstGeom>
          <a:noFill/>
          <a:ln/>
        </p:spPr>
        <p:txBody>
          <a:bodyPr wrap="square" lIns="0" tIns="0" rIns="0" bIns="0" rtlCol="0" anchor="ctr"/>
          <a:lstStyle/>
          <a:p>
            <a:pPr indent="0" marL="0">
              <a:buNone/>
            </a:pPr>
            <a:r>
              <a:rPr lang="en-US" sz="1230" dirty="0">
                <a:solidFill>
                  <a:srgbClr val="334155"/>
                </a:solidFill>
                <a:latin typeface="Aptos" pitchFamily="34" charset="0"/>
                <a:ea typeface="Aptos" pitchFamily="34" charset="-122"/>
                <a:cs typeface="Aptos" pitchFamily="34" charset="-120"/>
              </a:rPr>
              <a:t>Original</a:t>
            </a:r>
            <a:endParaRPr lang="en-US" sz="1230" dirty="0"/>
          </a:p>
        </p:txBody>
      </p:sp>
      <p:sp>
        <p:nvSpPr>
          <p:cNvPr id="17" name="Text 15"/>
          <p:cNvSpPr/>
          <p:nvPr/>
        </p:nvSpPr>
        <p:spPr>
          <a:xfrm>
            <a:off x="6400800" y="3026664"/>
            <a:ext cx="4480560" cy="201168"/>
          </a:xfrm>
          <a:prstGeom prst="rect">
            <a:avLst/>
          </a:prstGeom>
          <a:noFill/>
          <a:ln/>
        </p:spPr>
        <p:txBody>
          <a:bodyPr wrap="square" lIns="0" tIns="0" rIns="0" bIns="0" rtlCol="0" anchor="ctr"/>
          <a:lstStyle/>
          <a:p>
            <a:pPr indent="0" marL="0">
              <a:buNone/>
            </a:pPr>
            <a:r>
              <a:rPr lang="en-US" sz="1230" dirty="0">
                <a:solidFill>
                  <a:srgbClr val="334155"/>
                </a:solidFill>
                <a:latin typeface="Aptos" pitchFamily="34" charset="0"/>
                <a:ea typeface="Aptos" pitchFamily="34" charset="-122"/>
                <a:cs typeface="Aptos" pitchFamily="34" charset="-120"/>
              </a:rPr>
              <a:t>nonlinear bagging benchmark</a:t>
            </a:r>
            <a:endParaRPr lang="en-US" sz="1230" dirty="0"/>
          </a:p>
        </p:txBody>
      </p:sp>
      <p:sp>
        <p:nvSpPr>
          <p:cNvPr id="18" name="Shape 16"/>
          <p:cNvSpPr/>
          <p:nvPr/>
        </p:nvSpPr>
        <p:spPr>
          <a:xfrm>
            <a:off x="841248" y="3557016"/>
            <a:ext cx="10533888" cy="512064"/>
          </a:xfrm>
          <a:prstGeom prst="roundRect">
            <a:avLst>
              <a:gd name="adj" fmla="val 14286"/>
            </a:avLst>
          </a:prstGeom>
          <a:solidFill>
            <a:srgbClr val="E9F5EE"/>
          </a:solidFill>
          <a:ln w="12700">
            <a:solidFill>
              <a:srgbClr val="E9F5EE">
                <a:alpha val="0"/>
              </a:srgbClr>
            </a:solidFill>
            <a:prstDash val="solid"/>
          </a:ln>
        </p:spPr>
      </p:sp>
      <p:sp>
        <p:nvSpPr>
          <p:cNvPr id="19" name="Text 17"/>
          <p:cNvSpPr/>
          <p:nvPr/>
        </p:nvSpPr>
        <p:spPr>
          <a:xfrm>
            <a:off x="1005840" y="3648456"/>
            <a:ext cx="2926080" cy="201168"/>
          </a:xfrm>
          <a:prstGeom prst="rect">
            <a:avLst/>
          </a:prstGeom>
          <a:noFill/>
          <a:ln/>
        </p:spPr>
        <p:txBody>
          <a:bodyPr wrap="square" lIns="0" tIns="0" rIns="0" bIns="0" rtlCol="0" anchor="ctr"/>
          <a:lstStyle/>
          <a:p>
            <a:pPr indent="0" marL="0">
              <a:buNone/>
            </a:pPr>
            <a:r>
              <a:rPr lang="en-US" sz="1230" b="1" dirty="0">
                <a:solidFill>
                  <a:srgbClr val="1B4332"/>
                </a:solidFill>
                <a:latin typeface="Aptos" pitchFamily="34" charset="0"/>
                <a:ea typeface="Aptos" pitchFamily="34" charset="-122"/>
                <a:cs typeface="Aptos" pitchFamily="34" charset="-120"/>
              </a:rPr>
              <a:t>Random Forest</a:t>
            </a:r>
            <a:endParaRPr lang="en-US" sz="1230" dirty="0"/>
          </a:p>
        </p:txBody>
      </p:sp>
      <p:sp>
        <p:nvSpPr>
          <p:cNvPr id="20" name="Text 18"/>
          <p:cNvSpPr/>
          <p:nvPr/>
        </p:nvSpPr>
        <p:spPr>
          <a:xfrm>
            <a:off x="4389120" y="3648456"/>
            <a:ext cx="1828800" cy="201168"/>
          </a:xfrm>
          <a:prstGeom prst="rect">
            <a:avLst/>
          </a:prstGeom>
          <a:noFill/>
          <a:ln/>
        </p:spPr>
        <p:txBody>
          <a:bodyPr wrap="square" lIns="0" tIns="0" rIns="0" bIns="0" rtlCol="0" anchor="ctr"/>
          <a:lstStyle/>
          <a:p>
            <a:pPr indent="0" marL="0">
              <a:buNone/>
            </a:pPr>
            <a:r>
              <a:rPr lang="en-US" sz="1230" dirty="0">
                <a:solidFill>
                  <a:srgbClr val="334155"/>
                </a:solidFill>
                <a:latin typeface="Aptos" pitchFamily="34" charset="0"/>
                <a:ea typeface="Aptos" pitchFamily="34" charset="-122"/>
                <a:cs typeface="Aptos" pitchFamily="34" charset="-120"/>
              </a:rPr>
              <a:t>Engineered</a:t>
            </a:r>
            <a:endParaRPr lang="en-US" sz="1230" dirty="0"/>
          </a:p>
        </p:txBody>
      </p:sp>
      <p:sp>
        <p:nvSpPr>
          <p:cNvPr id="21" name="Text 19"/>
          <p:cNvSpPr/>
          <p:nvPr/>
        </p:nvSpPr>
        <p:spPr>
          <a:xfrm>
            <a:off x="6400800" y="3648456"/>
            <a:ext cx="4480560" cy="201168"/>
          </a:xfrm>
          <a:prstGeom prst="rect">
            <a:avLst/>
          </a:prstGeom>
          <a:noFill/>
          <a:ln/>
        </p:spPr>
        <p:txBody>
          <a:bodyPr wrap="square" lIns="0" tIns="0" rIns="0" bIns="0" rtlCol="0" anchor="ctr"/>
          <a:lstStyle/>
          <a:p>
            <a:pPr indent="0" marL="0">
              <a:buNone/>
            </a:pPr>
            <a:r>
              <a:rPr lang="en-US" sz="1230" dirty="0">
                <a:solidFill>
                  <a:srgbClr val="334155"/>
                </a:solidFill>
                <a:latin typeface="Aptos" pitchFamily="34" charset="0"/>
                <a:ea typeface="Aptos" pitchFamily="34" charset="-122"/>
                <a:cs typeface="Aptos" pitchFamily="34" charset="-120"/>
              </a:rPr>
              <a:t>selected for deployment prototype</a:t>
            </a:r>
            <a:endParaRPr lang="en-US" sz="1230" dirty="0"/>
          </a:p>
        </p:txBody>
      </p:sp>
      <p:sp>
        <p:nvSpPr>
          <p:cNvPr id="22" name="Text 20"/>
          <p:cNvSpPr/>
          <p:nvPr/>
        </p:nvSpPr>
        <p:spPr>
          <a:xfrm>
            <a:off x="1005840" y="4270248"/>
            <a:ext cx="2926080" cy="201168"/>
          </a:xfrm>
          <a:prstGeom prst="rect">
            <a:avLst/>
          </a:prstGeom>
          <a:noFill/>
          <a:ln/>
        </p:spPr>
        <p:txBody>
          <a:bodyPr wrap="square" lIns="0" tIns="0" rIns="0" bIns="0" rtlCol="0" anchor="ctr"/>
          <a:lstStyle/>
          <a:p>
            <a:pPr indent="0" marL="0">
              <a:buNone/>
            </a:pPr>
            <a:r>
              <a:rPr lang="en-US" sz="1230" dirty="0">
                <a:solidFill>
                  <a:srgbClr val="334155"/>
                </a:solidFill>
                <a:latin typeface="Aptos" pitchFamily="34" charset="0"/>
                <a:ea typeface="Aptos" pitchFamily="34" charset="-122"/>
                <a:cs typeface="Aptos" pitchFamily="34" charset="-120"/>
              </a:rPr>
              <a:t>XGBoost</a:t>
            </a:r>
            <a:endParaRPr lang="en-US" sz="1230" dirty="0"/>
          </a:p>
        </p:txBody>
      </p:sp>
      <p:sp>
        <p:nvSpPr>
          <p:cNvPr id="23" name="Text 21"/>
          <p:cNvSpPr/>
          <p:nvPr/>
        </p:nvSpPr>
        <p:spPr>
          <a:xfrm>
            <a:off x="4389120" y="4270248"/>
            <a:ext cx="1828800" cy="201168"/>
          </a:xfrm>
          <a:prstGeom prst="rect">
            <a:avLst/>
          </a:prstGeom>
          <a:noFill/>
          <a:ln/>
        </p:spPr>
        <p:txBody>
          <a:bodyPr wrap="square" lIns="0" tIns="0" rIns="0" bIns="0" rtlCol="0" anchor="ctr"/>
          <a:lstStyle/>
          <a:p>
            <a:pPr indent="0" marL="0">
              <a:buNone/>
            </a:pPr>
            <a:r>
              <a:rPr lang="en-US" sz="1230" dirty="0">
                <a:solidFill>
                  <a:srgbClr val="334155"/>
                </a:solidFill>
                <a:latin typeface="Aptos" pitchFamily="34" charset="0"/>
                <a:ea typeface="Aptos" pitchFamily="34" charset="-122"/>
                <a:cs typeface="Aptos" pitchFamily="34" charset="-120"/>
              </a:rPr>
              <a:t>Engineered</a:t>
            </a:r>
            <a:endParaRPr lang="en-US" sz="1230" dirty="0"/>
          </a:p>
        </p:txBody>
      </p:sp>
      <p:sp>
        <p:nvSpPr>
          <p:cNvPr id="24" name="Text 22"/>
          <p:cNvSpPr/>
          <p:nvPr/>
        </p:nvSpPr>
        <p:spPr>
          <a:xfrm>
            <a:off x="6400800" y="4270248"/>
            <a:ext cx="4480560" cy="201168"/>
          </a:xfrm>
          <a:prstGeom prst="rect">
            <a:avLst/>
          </a:prstGeom>
          <a:noFill/>
          <a:ln/>
        </p:spPr>
        <p:txBody>
          <a:bodyPr wrap="square" lIns="0" tIns="0" rIns="0" bIns="0" rtlCol="0" anchor="ctr"/>
          <a:lstStyle/>
          <a:p>
            <a:pPr indent="0" marL="0">
              <a:buNone/>
            </a:pPr>
            <a:r>
              <a:rPr lang="en-US" sz="1230" dirty="0">
                <a:solidFill>
                  <a:srgbClr val="334155"/>
                </a:solidFill>
                <a:latin typeface="Aptos" pitchFamily="34" charset="0"/>
                <a:ea typeface="Aptos" pitchFamily="34" charset="-122"/>
                <a:cs typeface="Aptos" pitchFamily="34" charset="-120"/>
              </a:rPr>
              <a:t>boosting comparison</a:t>
            </a:r>
            <a:endParaRPr lang="en-US" sz="1230" dirty="0"/>
          </a:p>
        </p:txBody>
      </p:sp>
      <p:sp>
        <p:nvSpPr>
          <p:cNvPr id="25" name="Shape 23"/>
          <p:cNvSpPr/>
          <p:nvPr/>
        </p:nvSpPr>
        <p:spPr>
          <a:xfrm>
            <a:off x="868680" y="5532120"/>
            <a:ext cx="4572000" cy="594360"/>
          </a:xfrm>
          <a:prstGeom prst="roundRect">
            <a:avLst>
              <a:gd name="adj" fmla="val 18462"/>
            </a:avLst>
          </a:prstGeom>
          <a:solidFill>
            <a:srgbClr val="EFF6FF"/>
          </a:solidFill>
          <a:ln w="15240">
            <a:solidFill>
              <a:srgbClr val="2563EB"/>
            </a:solidFill>
            <a:prstDash val="solid"/>
          </a:ln>
        </p:spPr>
      </p:sp>
      <p:sp>
        <p:nvSpPr>
          <p:cNvPr id="26" name="Text 24"/>
          <p:cNvSpPr/>
          <p:nvPr/>
        </p:nvSpPr>
        <p:spPr>
          <a:xfrm>
            <a:off x="1033272" y="5650992"/>
            <a:ext cx="4242816" cy="393192"/>
          </a:xfrm>
          <a:prstGeom prst="rect">
            <a:avLst/>
          </a:prstGeom>
          <a:noFill/>
          <a:ln/>
        </p:spPr>
        <p:txBody>
          <a:bodyPr wrap="square" lIns="254" tIns="254" rIns="254" bIns="254" rtlCol="0" anchor="ctr">
            <a:normAutofit/>
          </a:bodyPr>
          <a:lstStyle/>
          <a:p>
            <a:pPr indent="0" marL="0">
              <a:buNone/>
            </a:pPr>
            <a:r>
              <a:rPr lang="en-US" sz="1300" dirty="0">
                <a:solidFill>
                  <a:srgbClr val="334155"/>
                </a:solidFill>
                <a:latin typeface="Aptos" pitchFamily="34" charset="0"/>
                <a:ea typeface="Aptos" pitchFamily="34" charset="-122"/>
                <a:cs typeface="Aptos" pitchFamily="34" charset="-120"/>
              </a:rPr>
              <a:t>Evaluation: MAE, RMSE, R² and five-fold cross-validation.</a:t>
            </a:r>
            <a:endParaRPr lang="en-US" sz="1300" dirty="0"/>
          </a:p>
        </p:txBody>
      </p:sp>
      <p:sp>
        <p:nvSpPr>
          <p:cNvPr id="27" name="Shape 25"/>
          <p:cNvSpPr/>
          <p:nvPr/>
        </p:nvSpPr>
        <p:spPr>
          <a:xfrm>
            <a:off x="5806440" y="5532120"/>
            <a:ext cx="5166360" cy="594360"/>
          </a:xfrm>
          <a:prstGeom prst="roundRect">
            <a:avLst>
              <a:gd name="adj" fmla="val 18462"/>
            </a:avLst>
          </a:prstGeom>
          <a:solidFill>
            <a:srgbClr val="E9F5EE"/>
          </a:solidFill>
          <a:ln w="15240">
            <a:solidFill>
              <a:srgbClr val="1B4332"/>
            </a:solidFill>
            <a:prstDash val="solid"/>
          </a:ln>
        </p:spPr>
      </p:sp>
      <p:sp>
        <p:nvSpPr>
          <p:cNvPr id="28" name="Text 26"/>
          <p:cNvSpPr/>
          <p:nvPr/>
        </p:nvSpPr>
        <p:spPr>
          <a:xfrm>
            <a:off x="5971032" y="5650992"/>
            <a:ext cx="4837176" cy="393192"/>
          </a:xfrm>
          <a:prstGeom prst="rect">
            <a:avLst/>
          </a:prstGeom>
          <a:noFill/>
          <a:ln/>
        </p:spPr>
        <p:txBody>
          <a:bodyPr wrap="square" lIns="254" tIns="254" rIns="254" bIns="254" rtlCol="0" anchor="ctr">
            <a:normAutofit/>
          </a:bodyPr>
          <a:lstStyle/>
          <a:p>
            <a:pPr indent="0" marL="0">
              <a:buNone/>
            </a:pPr>
            <a:r>
              <a:rPr lang="en-US" sz="1300" dirty="0">
                <a:solidFill>
                  <a:srgbClr val="334155"/>
                </a:solidFill>
                <a:latin typeface="Aptos" pitchFamily="34" charset="0"/>
                <a:ea typeface="Aptos" pitchFamily="34" charset="-122"/>
                <a:cs typeface="Aptos" pitchFamily="34" charset="-120"/>
              </a:rPr>
              <a:t>Same cleaned 999-row dataset used for final comparisons.</a:t>
            </a:r>
            <a:endParaRPr lang="en-US" sz="1300" dirty="0"/>
          </a:p>
        </p:txBody>
      </p:sp>
      <p:sp>
        <p:nvSpPr>
          <p:cNvPr id="29" name="Text 27"/>
          <p:cNvSpPr/>
          <p:nvPr/>
        </p:nvSpPr>
        <p:spPr>
          <a:xfrm>
            <a:off x="11109960" y="6446520"/>
            <a:ext cx="548640" cy="201168"/>
          </a:xfrm>
          <a:prstGeom prst="rect">
            <a:avLst/>
          </a:prstGeom>
          <a:noFill/>
          <a:ln/>
        </p:spPr>
        <p:txBody>
          <a:bodyPr wrap="square" lIns="0" tIns="0" rIns="0" bIns="0" rtlCol="0" anchor="ctr"/>
          <a:lstStyle/>
          <a:p>
            <a:pPr algn="r" indent="0" marL="0">
              <a:buNone/>
            </a:pPr>
            <a:r>
              <a:rPr lang="en-US" sz="900" dirty="0">
                <a:solidFill>
                  <a:srgbClr val="94A3B8"/>
                </a:solidFill>
                <a:latin typeface="Aptos" pitchFamily="34" charset="0"/>
                <a:ea typeface="Aptos" pitchFamily="34" charset="-122"/>
                <a:cs typeface="Aptos"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2E8"/>
        </a:solidFill>
      </p:bgPr>
    </p:bg>
    <p:spTree>
      <p:nvGrpSpPr>
        <p:cNvPr id="1" name=""/>
        <p:cNvGrpSpPr/>
        <p:nvPr/>
      </p:nvGrpSpPr>
      <p:grpSpPr>
        <a:xfrm>
          <a:off x="0" y="0"/>
          <a:ext cx="0" cy="0"/>
          <a:chOff x="0" y="0"/>
          <a:chExt cx="0" cy="0"/>
        </a:xfrm>
      </p:grpSpPr>
      <p:sp>
        <p:nvSpPr>
          <p:cNvPr id="2" name="Text 0"/>
          <p:cNvSpPr/>
          <p:nvPr/>
        </p:nvSpPr>
        <p:spPr>
          <a:xfrm>
            <a:off x="502920" y="329184"/>
            <a:ext cx="7406640" cy="329184"/>
          </a:xfrm>
          <a:prstGeom prst="rect">
            <a:avLst/>
          </a:prstGeom>
          <a:noFill/>
          <a:ln/>
        </p:spPr>
        <p:txBody>
          <a:bodyPr wrap="square" lIns="0" tIns="0" rIns="0" bIns="0" rtlCol="0" anchor="ctr"/>
          <a:lstStyle/>
          <a:p>
            <a:pPr indent="0" marL="0">
              <a:buNone/>
            </a:pPr>
            <a:r>
              <a:rPr lang="en-US" sz="2300" b="1" dirty="0">
                <a:solidFill>
                  <a:srgbClr val="1B4332"/>
                </a:solidFill>
                <a:latin typeface="Aptos Display" pitchFamily="34" charset="0"/>
                <a:ea typeface="Aptos Display" pitchFamily="34" charset="-122"/>
                <a:cs typeface="Aptos Display" pitchFamily="34" charset="-120"/>
              </a:rPr>
              <a:t>Results: the models were very close, and all were weak</a:t>
            </a:r>
            <a:endParaRPr lang="en-US" sz="2300" dirty="0"/>
          </a:p>
        </p:txBody>
      </p:sp>
      <p:sp>
        <p:nvSpPr>
          <p:cNvPr id="3" name="Text 1"/>
          <p:cNvSpPr/>
          <p:nvPr/>
        </p:nvSpPr>
        <p:spPr>
          <a:xfrm>
            <a:off x="8549640" y="384048"/>
            <a:ext cx="3291840" cy="219456"/>
          </a:xfrm>
          <a:prstGeom prst="rect">
            <a:avLst/>
          </a:prstGeom>
          <a:noFill/>
          <a:ln/>
        </p:spPr>
        <p:txBody>
          <a:bodyPr wrap="square" lIns="0" tIns="0" rIns="0" bIns="0" rtlCol="0" anchor="ctr"/>
          <a:lstStyle/>
          <a:p>
            <a:pPr algn="r" indent="0" marL="0">
              <a:buNone/>
            </a:pPr>
            <a:r>
              <a:rPr lang="en-US" sz="950" dirty="0">
                <a:solidFill>
                  <a:srgbClr val="64748B"/>
                </a:solidFill>
                <a:latin typeface="Aptos" pitchFamily="34" charset="0"/>
                <a:ea typeface="Aptos" pitchFamily="34" charset="-122"/>
                <a:cs typeface="Aptos" pitchFamily="34" charset="-120"/>
              </a:rPr>
              <a:t>Gamma 2 • Crop Yield Prediction</a:t>
            </a:r>
            <a:endParaRPr lang="en-US" sz="950" dirty="0"/>
          </a:p>
        </p:txBody>
      </p:sp>
      <p:sp>
        <p:nvSpPr>
          <p:cNvPr id="4" name="Shape 2"/>
          <p:cNvSpPr/>
          <p:nvPr/>
        </p:nvSpPr>
        <p:spPr>
          <a:xfrm>
            <a:off x="502920" y="768096"/>
            <a:ext cx="11201400" cy="0"/>
          </a:xfrm>
          <a:prstGeom prst="line">
            <a:avLst/>
          </a:prstGeom>
          <a:noFill/>
          <a:ln w="12700">
            <a:solidFill>
              <a:srgbClr val="E2E8F0"/>
            </a:solidFill>
            <a:prstDash val="solid"/>
          </a:ln>
        </p:spPr>
      </p:sp>
      <p:sp>
        <p:nvSpPr>
          <p:cNvPr id="5" name="Shape 3"/>
          <p:cNvSpPr/>
          <p:nvPr/>
        </p:nvSpPr>
        <p:spPr>
          <a:xfrm>
            <a:off x="594360" y="960120"/>
            <a:ext cx="5852160" cy="4480560"/>
          </a:xfrm>
          <a:prstGeom prst="roundRect">
            <a:avLst>
              <a:gd name="adj" fmla="val 3673"/>
            </a:avLst>
          </a:prstGeom>
          <a:solidFill>
            <a:srgbClr val="FFFFFF"/>
          </a:solidFill>
          <a:ln w="12700">
            <a:solidFill>
              <a:srgbClr val="E5E7EB"/>
            </a:solidFill>
            <a:prstDash val="solid"/>
          </a:ln>
        </p:spPr>
      </p:sp>
      <p:sp>
        <p:nvSpPr>
          <p:cNvPr id="6" name="Text 4"/>
          <p:cNvSpPr/>
          <p:nvPr/>
        </p:nvSpPr>
        <p:spPr>
          <a:xfrm>
            <a:off x="868680" y="1261872"/>
            <a:ext cx="1828800" cy="219456"/>
          </a:xfrm>
          <a:prstGeom prst="rect">
            <a:avLst/>
          </a:prstGeom>
          <a:noFill/>
          <a:ln/>
        </p:spPr>
        <p:txBody>
          <a:bodyPr wrap="square" lIns="0" tIns="0" rIns="0" bIns="0" rtlCol="0" anchor="ctr"/>
          <a:lstStyle/>
          <a:p>
            <a:pPr indent="0" marL="0">
              <a:buNone/>
            </a:pPr>
            <a:r>
              <a:rPr lang="en-US" sz="1050" b="1" dirty="0">
                <a:solidFill>
                  <a:srgbClr val="1B4332"/>
                </a:solidFill>
                <a:latin typeface="Aptos" pitchFamily="34" charset="0"/>
                <a:ea typeface="Aptos" pitchFamily="34" charset="-122"/>
                <a:cs typeface="Aptos" pitchFamily="34" charset="-120"/>
              </a:rPr>
              <a:t>Model</a:t>
            </a:r>
            <a:endParaRPr lang="en-US" sz="1050" dirty="0"/>
          </a:p>
        </p:txBody>
      </p:sp>
      <p:sp>
        <p:nvSpPr>
          <p:cNvPr id="7" name="Text 5"/>
          <p:cNvSpPr/>
          <p:nvPr/>
        </p:nvSpPr>
        <p:spPr>
          <a:xfrm>
            <a:off x="2971800" y="1261872"/>
            <a:ext cx="594360" cy="219456"/>
          </a:xfrm>
          <a:prstGeom prst="rect">
            <a:avLst/>
          </a:prstGeom>
          <a:noFill/>
          <a:ln/>
        </p:spPr>
        <p:txBody>
          <a:bodyPr wrap="square" lIns="0" tIns="0" rIns="0" bIns="0" rtlCol="0" anchor="ctr"/>
          <a:lstStyle/>
          <a:p>
            <a:pPr algn="r" indent="0" marL="0">
              <a:buNone/>
            </a:pPr>
            <a:r>
              <a:rPr lang="en-US" sz="1050" b="1" dirty="0">
                <a:solidFill>
                  <a:srgbClr val="1B4332"/>
                </a:solidFill>
                <a:latin typeface="Aptos" pitchFamily="34" charset="0"/>
                <a:ea typeface="Aptos" pitchFamily="34" charset="-122"/>
                <a:cs typeface="Aptos" pitchFamily="34" charset="-120"/>
              </a:rPr>
              <a:t>MAE</a:t>
            </a:r>
            <a:endParaRPr lang="en-US" sz="1050" dirty="0"/>
          </a:p>
        </p:txBody>
      </p:sp>
      <p:sp>
        <p:nvSpPr>
          <p:cNvPr id="8" name="Text 6"/>
          <p:cNvSpPr/>
          <p:nvPr/>
        </p:nvSpPr>
        <p:spPr>
          <a:xfrm>
            <a:off x="3913632" y="1261872"/>
            <a:ext cx="685800" cy="219456"/>
          </a:xfrm>
          <a:prstGeom prst="rect">
            <a:avLst/>
          </a:prstGeom>
          <a:noFill/>
          <a:ln/>
        </p:spPr>
        <p:txBody>
          <a:bodyPr wrap="square" lIns="0" tIns="0" rIns="0" bIns="0" rtlCol="0" anchor="ctr"/>
          <a:lstStyle/>
          <a:p>
            <a:pPr algn="r" indent="0" marL="0">
              <a:buNone/>
            </a:pPr>
            <a:r>
              <a:rPr lang="en-US" sz="1050" b="1" dirty="0">
                <a:solidFill>
                  <a:srgbClr val="1B4332"/>
                </a:solidFill>
                <a:latin typeface="Aptos" pitchFamily="34" charset="0"/>
                <a:ea typeface="Aptos" pitchFamily="34" charset="-122"/>
                <a:cs typeface="Aptos" pitchFamily="34" charset="-120"/>
              </a:rPr>
              <a:t>RMSE</a:t>
            </a:r>
            <a:endParaRPr lang="en-US" sz="1050" dirty="0"/>
          </a:p>
        </p:txBody>
      </p:sp>
      <p:sp>
        <p:nvSpPr>
          <p:cNvPr id="9" name="Text 7"/>
          <p:cNvSpPr/>
          <p:nvPr/>
        </p:nvSpPr>
        <p:spPr>
          <a:xfrm>
            <a:off x="5029200" y="1261872"/>
            <a:ext cx="594360" cy="219456"/>
          </a:xfrm>
          <a:prstGeom prst="rect">
            <a:avLst/>
          </a:prstGeom>
          <a:noFill/>
          <a:ln/>
        </p:spPr>
        <p:txBody>
          <a:bodyPr wrap="square" lIns="0" tIns="0" rIns="0" bIns="0" rtlCol="0" anchor="ctr"/>
          <a:lstStyle/>
          <a:p>
            <a:pPr algn="r" indent="0" marL="0">
              <a:buNone/>
            </a:pPr>
            <a:r>
              <a:rPr lang="en-US" sz="1050" b="1" dirty="0">
                <a:solidFill>
                  <a:srgbClr val="1B4332"/>
                </a:solidFill>
                <a:latin typeface="Aptos" pitchFamily="34" charset="0"/>
                <a:ea typeface="Aptos" pitchFamily="34" charset="-122"/>
                <a:cs typeface="Aptos" pitchFamily="34" charset="-120"/>
              </a:rPr>
              <a:t>R²</a:t>
            </a:r>
            <a:endParaRPr lang="en-US" sz="1050" dirty="0"/>
          </a:p>
        </p:txBody>
      </p:sp>
      <p:sp>
        <p:nvSpPr>
          <p:cNvPr id="10" name="Text 8"/>
          <p:cNvSpPr/>
          <p:nvPr/>
        </p:nvSpPr>
        <p:spPr>
          <a:xfrm>
            <a:off x="868680" y="1664208"/>
            <a:ext cx="1920240" cy="201168"/>
          </a:xfrm>
          <a:prstGeom prst="rect">
            <a:avLst/>
          </a:prstGeom>
          <a:noFill/>
          <a:ln/>
        </p:spPr>
        <p:txBody>
          <a:bodyPr wrap="square" lIns="0" tIns="0" rIns="0" bIns="0" rtlCol="0" anchor="ctr"/>
          <a:lstStyle/>
          <a:p>
            <a:pPr indent="0" marL="0">
              <a:buNone/>
            </a:pPr>
            <a:r>
              <a:rPr lang="en-US" sz="1130" dirty="0">
                <a:solidFill>
                  <a:srgbClr val="334155"/>
                </a:solidFill>
                <a:latin typeface="Aptos" pitchFamily="34" charset="0"/>
                <a:ea typeface="Aptos" pitchFamily="34" charset="-122"/>
                <a:cs typeface="Aptos" pitchFamily="34" charset="-120"/>
              </a:rPr>
              <a:t>MLR Original</a:t>
            </a:r>
            <a:endParaRPr lang="en-US" sz="1130" dirty="0"/>
          </a:p>
        </p:txBody>
      </p:sp>
      <p:sp>
        <p:nvSpPr>
          <p:cNvPr id="11" name="Text 9"/>
          <p:cNvSpPr/>
          <p:nvPr/>
        </p:nvSpPr>
        <p:spPr>
          <a:xfrm>
            <a:off x="2880360" y="1664208"/>
            <a:ext cx="685800" cy="201168"/>
          </a:xfrm>
          <a:prstGeom prst="rect">
            <a:avLst/>
          </a:prstGeom>
          <a:noFill/>
          <a:ln/>
        </p:spPr>
        <p:txBody>
          <a:bodyPr wrap="square" lIns="0" tIns="0" rIns="0" bIns="0" rtlCol="0" anchor="ctr"/>
          <a:lstStyle/>
          <a:p>
            <a:pPr algn="r" indent="0" marL="0">
              <a:buNone/>
            </a:pPr>
            <a:r>
              <a:rPr lang="en-US" sz="1130" dirty="0">
                <a:solidFill>
                  <a:srgbClr val="334155"/>
                </a:solidFill>
                <a:latin typeface="Aptos" pitchFamily="34" charset="0"/>
                <a:ea typeface="Aptos" pitchFamily="34" charset="-122"/>
                <a:cs typeface="Aptos" pitchFamily="34" charset="-120"/>
              </a:rPr>
              <a:t>2.534</a:t>
            </a:r>
            <a:endParaRPr lang="en-US" sz="1130" dirty="0"/>
          </a:p>
        </p:txBody>
      </p:sp>
      <p:sp>
        <p:nvSpPr>
          <p:cNvPr id="12" name="Text 10"/>
          <p:cNvSpPr/>
          <p:nvPr/>
        </p:nvSpPr>
        <p:spPr>
          <a:xfrm>
            <a:off x="3886200" y="1664208"/>
            <a:ext cx="685800" cy="201168"/>
          </a:xfrm>
          <a:prstGeom prst="rect">
            <a:avLst/>
          </a:prstGeom>
          <a:noFill/>
          <a:ln/>
        </p:spPr>
        <p:txBody>
          <a:bodyPr wrap="square" lIns="0" tIns="0" rIns="0" bIns="0" rtlCol="0" anchor="ctr"/>
          <a:lstStyle/>
          <a:p>
            <a:pPr algn="r" indent="0" marL="0">
              <a:buNone/>
            </a:pPr>
            <a:r>
              <a:rPr lang="en-US" sz="1130" dirty="0">
                <a:solidFill>
                  <a:srgbClr val="334155"/>
                </a:solidFill>
                <a:latin typeface="Aptos" pitchFamily="34" charset="0"/>
                <a:ea typeface="Aptos" pitchFamily="34" charset="-122"/>
                <a:cs typeface="Aptos" pitchFamily="34" charset="-120"/>
              </a:rPr>
              <a:t>2.939</a:t>
            </a:r>
            <a:endParaRPr lang="en-US" sz="1130" dirty="0"/>
          </a:p>
        </p:txBody>
      </p:sp>
      <p:sp>
        <p:nvSpPr>
          <p:cNvPr id="13" name="Text 11"/>
          <p:cNvSpPr/>
          <p:nvPr/>
        </p:nvSpPr>
        <p:spPr>
          <a:xfrm>
            <a:off x="5029200" y="1664208"/>
            <a:ext cx="594360" cy="201168"/>
          </a:xfrm>
          <a:prstGeom prst="rect">
            <a:avLst/>
          </a:prstGeom>
          <a:noFill/>
          <a:ln/>
        </p:spPr>
        <p:txBody>
          <a:bodyPr wrap="square" lIns="0" tIns="0" rIns="0" bIns="0" rtlCol="0" anchor="ctr"/>
          <a:lstStyle/>
          <a:p>
            <a:pPr algn="r" indent="0" marL="0">
              <a:buNone/>
            </a:pPr>
            <a:r>
              <a:rPr lang="en-US" sz="1130" dirty="0">
                <a:solidFill>
                  <a:srgbClr val="334155"/>
                </a:solidFill>
                <a:latin typeface="Aptos" pitchFamily="34" charset="0"/>
                <a:ea typeface="Aptos" pitchFamily="34" charset="-122"/>
                <a:cs typeface="Aptos" pitchFamily="34" charset="-120"/>
              </a:rPr>
              <a:t>-0.003</a:t>
            </a:r>
            <a:endParaRPr lang="en-US" sz="1130" dirty="0"/>
          </a:p>
        </p:txBody>
      </p:sp>
      <p:sp>
        <p:nvSpPr>
          <p:cNvPr id="14" name="Text 12"/>
          <p:cNvSpPr/>
          <p:nvPr/>
        </p:nvSpPr>
        <p:spPr>
          <a:xfrm>
            <a:off x="868680" y="2231136"/>
            <a:ext cx="1920240" cy="201168"/>
          </a:xfrm>
          <a:prstGeom prst="rect">
            <a:avLst/>
          </a:prstGeom>
          <a:noFill/>
          <a:ln/>
        </p:spPr>
        <p:txBody>
          <a:bodyPr wrap="square" lIns="0" tIns="0" rIns="0" bIns="0" rtlCol="0" anchor="ctr"/>
          <a:lstStyle/>
          <a:p>
            <a:pPr indent="0" marL="0">
              <a:buNone/>
            </a:pPr>
            <a:r>
              <a:rPr lang="en-US" sz="1130" dirty="0">
                <a:solidFill>
                  <a:srgbClr val="334155"/>
                </a:solidFill>
                <a:latin typeface="Aptos" pitchFamily="34" charset="0"/>
                <a:ea typeface="Aptos" pitchFamily="34" charset="-122"/>
                <a:cs typeface="Aptos" pitchFamily="34" charset="-120"/>
              </a:rPr>
              <a:t>MLR Engineered</a:t>
            </a:r>
            <a:endParaRPr lang="en-US" sz="1130" dirty="0"/>
          </a:p>
        </p:txBody>
      </p:sp>
      <p:sp>
        <p:nvSpPr>
          <p:cNvPr id="15" name="Text 13"/>
          <p:cNvSpPr/>
          <p:nvPr/>
        </p:nvSpPr>
        <p:spPr>
          <a:xfrm>
            <a:off x="2880360" y="2231136"/>
            <a:ext cx="685800" cy="201168"/>
          </a:xfrm>
          <a:prstGeom prst="rect">
            <a:avLst/>
          </a:prstGeom>
          <a:noFill/>
          <a:ln/>
        </p:spPr>
        <p:txBody>
          <a:bodyPr wrap="square" lIns="0" tIns="0" rIns="0" bIns="0" rtlCol="0" anchor="ctr"/>
          <a:lstStyle/>
          <a:p>
            <a:pPr algn="r" indent="0" marL="0">
              <a:buNone/>
            </a:pPr>
            <a:r>
              <a:rPr lang="en-US" sz="1130" dirty="0">
                <a:solidFill>
                  <a:srgbClr val="334155"/>
                </a:solidFill>
                <a:latin typeface="Aptos" pitchFamily="34" charset="0"/>
                <a:ea typeface="Aptos" pitchFamily="34" charset="-122"/>
                <a:cs typeface="Aptos" pitchFamily="34" charset="-120"/>
              </a:rPr>
              <a:t>2.553</a:t>
            </a:r>
            <a:endParaRPr lang="en-US" sz="1130" dirty="0"/>
          </a:p>
        </p:txBody>
      </p:sp>
      <p:sp>
        <p:nvSpPr>
          <p:cNvPr id="16" name="Text 14"/>
          <p:cNvSpPr/>
          <p:nvPr/>
        </p:nvSpPr>
        <p:spPr>
          <a:xfrm>
            <a:off x="3886200" y="2231136"/>
            <a:ext cx="685800" cy="201168"/>
          </a:xfrm>
          <a:prstGeom prst="rect">
            <a:avLst/>
          </a:prstGeom>
          <a:noFill/>
          <a:ln/>
        </p:spPr>
        <p:txBody>
          <a:bodyPr wrap="square" lIns="0" tIns="0" rIns="0" bIns="0" rtlCol="0" anchor="ctr"/>
          <a:lstStyle/>
          <a:p>
            <a:pPr algn="r" indent="0" marL="0">
              <a:buNone/>
            </a:pPr>
            <a:r>
              <a:rPr lang="en-US" sz="1130" dirty="0">
                <a:solidFill>
                  <a:srgbClr val="334155"/>
                </a:solidFill>
                <a:latin typeface="Aptos" pitchFamily="34" charset="0"/>
                <a:ea typeface="Aptos" pitchFamily="34" charset="-122"/>
                <a:cs typeface="Aptos" pitchFamily="34" charset="-120"/>
              </a:rPr>
              <a:t>2.945</a:t>
            </a:r>
            <a:endParaRPr lang="en-US" sz="1130" dirty="0"/>
          </a:p>
        </p:txBody>
      </p:sp>
      <p:sp>
        <p:nvSpPr>
          <p:cNvPr id="17" name="Text 15"/>
          <p:cNvSpPr/>
          <p:nvPr/>
        </p:nvSpPr>
        <p:spPr>
          <a:xfrm>
            <a:off x="5029200" y="2231136"/>
            <a:ext cx="594360" cy="201168"/>
          </a:xfrm>
          <a:prstGeom prst="rect">
            <a:avLst/>
          </a:prstGeom>
          <a:noFill/>
          <a:ln/>
        </p:spPr>
        <p:txBody>
          <a:bodyPr wrap="square" lIns="0" tIns="0" rIns="0" bIns="0" rtlCol="0" anchor="ctr"/>
          <a:lstStyle/>
          <a:p>
            <a:pPr algn="r" indent="0" marL="0">
              <a:buNone/>
            </a:pPr>
            <a:r>
              <a:rPr lang="en-US" sz="1130" dirty="0">
                <a:solidFill>
                  <a:srgbClr val="334155"/>
                </a:solidFill>
                <a:latin typeface="Aptos" pitchFamily="34" charset="0"/>
                <a:ea typeface="Aptos" pitchFamily="34" charset="-122"/>
                <a:cs typeface="Aptos" pitchFamily="34" charset="-120"/>
              </a:rPr>
              <a:t>-0.007</a:t>
            </a:r>
            <a:endParaRPr lang="en-US" sz="1130" dirty="0"/>
          </a:p>
        </p:txBody>
      </p:sp>
      <p:sp>
        <p:nvSpPr>
          <p:cNvPr id="18" name="Text 16"/>
          <p:cNvSpPr/>
          <p:nvPr/>
        </p:nvSpPr>
        <p:spPr>
          <a:xfrm>
            <a:off x="868680" y="2798064"/>
            <a:ext cx="1920240" cy="201168"/>
          </a:xfrm>
          <a:prstGeom prst="rect">
            <a:avLst/>
          </a:prstGeom>
          <a:noFill/>
          <a:ln/>
        </p:spPr>
        <p:txBody>
          <a:bodyPr wrap="square" lIns="0" tIns="0" rIns="0" bIns="0" rtlCol="0" anchor="ctr"/>
          <a:lstStyle/>
          <a:p>
            <a:pPr indent="0" marL="0">
              <a:buNone/>
            </a:pPr>
            <a:r>
              <a:rPr lang="en-US" sz="1130" dirty="0">
                <a:solidFill>
                  <a:srgbClr val="334155"/>
                </a:solidFill>
                <a:latin typeface="Aptos" pitchFamily="34" charset="0"/>
                <a:ea typeface="Aptos" pitchFamily="34" charset="-122"/>
                <a:cs typeface="Aptos" pitchFamily="34" charset="-120"/>
              </a:rPr>
              <a:t>RF Original</a:t>
            </a:r>
            <a:endParaRPr lang="en-US" sz="1130" dirty="0"/>
          </a:p>
        </p:txBody>
      </p:sp>
      <p:sp>
        <p:nvSpPr>
          <p:cNvPr id="19" name="Text 17"/>
          <p:cNvSpPr/>
          <p:nvPr/>
        </p:nvSpPr>
        <p:spPr>
          <a:xfrm>
            <a:off x="2880360" y="2798064"/>
            <a:ext cx="685800" cy="201168"/>
          </a:xfrm>
          <a:prstGeom prst="rect">
            <a:avLst/>
          </a:prstGeom>
          <a:noFill/>
          <a:ln/>
        </p:spPr>
        <p:txBody>
          <a:bodyPr wrap="square" lIns="0" tIns="0" rIns="0" bIns="0" rtlCol="0" anchor="ctr"/>
          <a:lstStyle/>
          <a:p>
            <a:pPr algn="r" indent="0" marL="0">
              <a:buNone/>
            </a:pPr>
            <a:r>
              <a:rPr lang="en-US" sz="1130" dirty="0">
                <a:solidFill>
                  <a:srgbClr val="334155"/>
                </a:solidFill>
                <a:latin typeface="Aptos" pitchFamily="34" charset="0"/>
                <a:ea typeface="Aptos" pitchFamily="34" charset="-122"/>
                <a:cs typeface="Aptos" pitchFamily="34" charset="-120"/>
              </a:rPr>
              <a:t>2.546</a:t>
            </a:r>
            <a:endParaRPr lang="en-US" sz="1130" dirty="0"/>
          </a:p>
        </p:txBody>
      </p:sp>
      <p:sp>
        <p:nvSpPr>
          <p:cNvPr id="20" name="Text 18"/>
          <p:cNvSpPr/>
          <p:nvPr/>
        </p:nvSpPr>
        <p:spPr>
          <a:xfrm>
            <a:off x="3886200" y="2798064"/>
            <a:ext cx="685800" cy="201168"/>
          </a:xfrm>
          <a:prstGeom prst="rect">
            <a:avLst/>
          </a:prstGeom>
          <a:noFill/>
          <a:ln/>
        </p:spPr>
        <p:txBody>
          <a:bodyPr wrap="square" lIns="0" tIns="0" rIns="0" bIns="0" rtlCol="0" anchor="ctr"/>
          <a:lstStyle/>
          <a:p>
            <a:pPr algn="r" indent="0" marL="0">
              <a:buNone/>
            </a:pPr>
            <a:r>
              <a:rPr lang="en-US" sz="1130" dirty="0">
                <a:solidFill>
                  <a:srgbClr val="334155"/>
                </a:solidFill>
                <a:latin typeface="Aptos" pitchFamily="34" charset="0"/>
                <a:ea typeface="Aptos" pitchFamily="34" charset="-122"/>
                <a:cs typeface="Aptos" pitchFamily="34" charset="-120"/>
              </a:rPr>
              <a:t>2.939</a:t>
            </a:r>
            <a:endParaRPr lang="en-US" sz="1130" dirty="0"/>
          </a:p>
        </p:txBody>
      </p:sp>
      <p:sp>
        <p:nvSpPr>
          <p:cNvPr id="21" name="Text 19"/>
          <p:cNvSpPr/>
          <p:nvPr/>
        </p:nvSpPr>
        <p:spPr>
          <a:xfrm>
            <a:off x="5029200" y="2798064"/>
            <a:ext cx="594360" cy="201168"/>
          </a:xfrm>
          <a:prstGeom prst="rect">
            <a:avLst/>
          </a:prstGeom>
          <a:noFill/>
          <a:ln/>
        </p:spPr>
        <p:txBody>
          <a:bodyPr wrap="square" lIns="0" tIns="0" rIns="0" bIns="0" rtlCol="0" anchor="ctr"/>
          <a:lstStyle/>
          <a:p>
            <a:pPr algn="r" indent="0" marL="0">
              <a:buNone/>
            </a:pPr>
            <a:r>
              <a:rPr lang="en-US" sz="1130" dirty="0">
                <a:solidFill>
                  <a:srgbClr val="334155"/>
                </a:solidFill>
                <a:latin typeface="Aptos" pitchFamily="34" charset="0"/>
                <a:ea typeface="Aptos" pitchFamily="34" charset="-122"/>
                <a:cs typeface="Aptos" pitchFamily="34" charset="-120"/>
              </a:rPr>
              <a:t>-0.003</a:t>
            </a:r>
            <a:endParaRPr lang="en-US" sz="1130" dirty="0"/>
          </a:p>
        </p:txBody>
      </p:sp>
      <p:sp>
        <p:nvSpPr>
          <p:cNvPr id="22" name="Shape 20"/>
          <p:cNvSpPr/>
          <p:nvPr/>
        </p:nvSpPr>
        <p:spPr>
          <a:xfrm>
            <a:off x="777240" y="3282696"/>
            <a:ext cx="5394960" cy="438912"/>
          </a:xfrm>
          <a:prstGeom prst="roundRect">
            <a:avLst>
              <a:gd name="adj" fmla="val 14583"/>
            </a:avLst>
          </a:prstGeom>
          <a:solidFill>
            <a:srgbClr val="E9F5EE"/>
          </a:solidFill>
          <a:ln w="12700">
            <a:solidFill>
              <a:srgbClr val="E9F5EE">
                <a:alpha val="0"/>
              </a:srgbClr>
            </a:solidFill>
            <a:prstDash val="solid"/>
          </a:ln>
        </p:spPr>
      </p:sp>
      <p:sp>
        <p:nvSpPr>
          <p:cNvPr id="23" name="Text 21"/>
          <p:cNvSpPr/>
          <p:nvPr/>
        </p:nvSpPr>
        <p:spPr>
          <a:xfrm>
            <a:off x="868680" y="3364992"/>
            <a:ext cx="1920240" cy="201168"/>
          </a:xfrm>
          <a:prstGeom prst="rect">
            <a:avLst/>
          </a:prstGeom>
          <a:noFill/>
          <a:ln/>
        </p:spPr>
        <p:txBody>
          <a:bodyPr wrap="square" lIns="0" tIns="0" rIns="0" bIns="0" rtlCol="0" anchor="ctr"/>
          <a:lstStyle/>
          <a:p>
            <a:pPr indent="0" marL="0">
              <a:buNone/>
            </a:pPr>
            <a:r>
              <a:rPr lang="en-US" sz="1130" b="1" dirty="0">
                <a:solidFill>
                  <a:srgbClr val="1B4332"/>
                </a:solidFill>
                <a:latin typeface="Aptos" pitchFamily="34" charset="0"/>
                <a:ea typeface="Aptos" pitchFamily="34" charset="-122"/>
                <a:cs typeface="Aptos" pitchFamily="34" charset="-120"/>
              </a:rPr>
              <a:t>RF Engineered</a:t>
            </a:r>
            <a:endParaRPr lang="en-US" sz="1130" dirty="0"/>
          </a:p>
        </p:txBody>
      </p:sp>
      <p:sp>
        <p:nvSpPr>
          <p:cNvPr id="24" name="Text 22"/>
          <p:cNvSpPr/>
          <p:nvPr/>
        </p:nvSpPr>
        <p:spPr>
          <a:xfrm>
            <a:off x="2880360" y="3364992"/>
            <a:ext cx="685800" cy="201168"/>
          </a:xfrm>
          <a:prstGeom prst="rect">
            <a:avLst/>
          </a:prstGeom>
          <a:noFill/>
          <a:ln/>
        </p:spPr>
        <p:txBody>
          <a:bodyPr wrap="square" lIns="0" tIns="0" rIns="0" bIns="0" rtlCol="0" anchor="ctr"/>
          <a:lstStyle/>
          <a:p>
            <a:pPr algn="r" indent="0" marL="0">
              <a:buNone/>
            </a:pPr>
            <a:r>
              <a:rPr lang="en-US" sz="1130" b="1" dirty="0">
                <a:solidFill>
                  <a:srgbClr val="334155"/>
                </a:solidFill>
                <a:latin typeface="Aptos" pitchFamily="34" charset="0"/>
                <a:ea typeface="Aptos" pitchFamily="34" charset="-122"/>
                <a:cs typeface="Aptos" pitchFamily="34" charset="-120"/>
              </a:rPr>
              <a:t>2.525</a:t>
            </a:r>
            <a:endParaRPr lang="en-US" sz="1130" dirty="0"/>
          </a:p>
        </p:txBody>
      </p:sp>
      <p:sp>
        <p:nvSpPr>
          <p:cNvPr id="25" name="Text 23"/>
          <p:cNvSpPr/>
          <p:nvPr/>
        </p:nvSpPr>
        <p:spPr>
          <a:xfrm>
            <a:off x="3886200" y="3364992"/>
            <a:ext cx="685800" cy="201168"/>
          </a:xfrm>
          <a:prstGeom prst="rect">
            <a:avLst/>
          </a:prstGeom>
          <a:noFill/>
          <a:ln/>
        </p:spPr>
        <p:txBody>
          <a:bodyPr wrap="square" lIns="0" tIns="0" rIns="0" bIns="0" rtlCol="0" anchor="ctr"/>
          <a:lstStyle/>
          <a:p>
            <a:pPr algn="r" indent="0" marL="0">
              <a:buNone/>
            </a:pPr>
            <a:r>
              <a:rPr lang="en-US" sz="1130" dirty="0">
                <a:solidFill>
                  <a:srgbClr val="334155"/>
                </a:solidFill>
                <a:latin typeface="Aptos" pitchFamily="34" charset="0"/>
                <a:ea typeface="Aptos" pitchFamily="34" charset="-122"/>
                <a:cs typeface="Aptos" pitchFamily="34" charset="-120"/>
              </a:rPr>
              <a:t>2.926</a:t>
            </a:r>
            <a:endParaRPr lang="en-US" sz="1130" dirty="0"/>
          </a:p>
        </p:txBody>
      </p:sp>
      <p:sp>
        <p:nvSpPr>
          <p:cNvPr id="26" name="Text 24"/>
          <p:cNvSpPr/>
          <p:nvPr/>
        </p:nvSpPr>
        <p:spPr>
          <a:xfrm>
            <a:off x="5029200" y="3364992"/>
            <a:ext cx="594360" cy="201168"/>
          </a:xfrm>
          <a:prstGeom prst="rect">
            <a:avLst/>
          </a:prstGeom>
          <a:noFill/>
          <a:ln/>
        </p:spPr>
        <p:txBody>
          <a:bodyPr wrap="square" lIns="0" tIns="0" rIns="0" bIns="0" rtlCol="0" anchor="ctr"/>
          <a:lstStyle/>
          <a:p>
            <a:pPr algn="r" indent="0" marL="0">
              <a:buNone/>
            </a:pPr>
            <a:r>
              <a:rPr lang="en-US" sz="1130" dirty="0">
                <a:solidFill>
                  <a:srgbClr val="334155"/>
                </a:solidFill>
                <a:latin typeface="Aptos" pitchFamily="34" charset="0"/>
                <a:ea typeface="Aptos" pitchFamily="34" charset="-122"/>
                <a:cs typeface="Aptos" pitchFamily="34" charset="-120"/>
              </a:rPr>
              <a:t>0.006</a:t>
            </a:r>
            <a:endParaRPr lang="en-US" sz="1130" dirty="0"/>
          </a:p>
        </p:txBody>
      </p:sp>
      <p:sp>
        <p:nvSpPr>
          <p:cNvPr id="27" name="Shape 25"/>
          <p:cNvSpPr/>
          <p:nvPr/>
        </p:nvSpPr>
        <p:spPr>
          <a:xfrm>
            <a:off x="777240" y="3849624"/>
            <a:ext cx="5394960" cy="438912"/>
          </a:xfrm>
          <a:prstGeom prst="roundRect">
            <a:avLst>
              <a:gd name="adj" fmla="val 14583"/>
            </a:avLst>
          </a:prstGeom>
          <a:solidFill>
            <a:srgbClr val="EFF6FF"/>
          </a:solidFill>
          <a:ln w="12700">
            <a:solidFill>
              <a:srgbClr val="EFF6FF">
                <a:alpha val="0"/>
              </a:srgbClr>
            </a:solidFill>
            <a:prstDash val="solid"/>
          </a:ln>
        </p:spPr>
      </p:sp>
      <p:sp>
        <p:nvSpPr>
          <p:cNvPr id="28" name="Text 26"/>
          <p:cNvSpPr/>
          <p:nvPr/>
        </p:nvSpPr>
        <p:spPr>
          <a:xfrm>
            <a:off x="868680" y="3931920"/>
            <a:ext cx="1920240" cy="201168"/>
          </a:xfrm>
          <a:prstGeom prst="rect">
            <a:avLst/>
          </a:prstGeom>
          <a:noFill/>
          <a:ln/>
        </p:spPr>
        <p:txBody>
          <a:bodyPr wrap="square" lIns="0" tIns="0" rIns="0" bIns="0" rtlCol="0" anchor="ctr"/>
          <a:lstStyle/>
          <a:p>
            <a:pPr indent="0" marL="0">
              <a:buNone/>
            </a:pPr>
            <a:r>
              <a:rPr lang="en-US" sz="1130" b="1" dirty="0">
                <a:solidFill>
                  <a:srgbClr val="2563EB"/>
                </a:solidFill>
                <a:latin typeface="Aptos" pitchFamily="34" charset="0"/>
                <a:ea typeface="Aptos" pitchFamily="34" charset="-122"/>
                <a:cs typeface="Aptos" pitchFamily="34" charset="-120"/>
              </a:rPr>
              <a:t>XGBoost Engineered</a:t>
            </a:r>
            <a:endParaRPr lang="en-US" sz="1130" dirty="0"/>
          </a:p>
        </p:txBody>
      </p:sp>
      <p:sp>
        <p:nvSpPr>
          <p:cNvPr id="29" name="Text 27"/>
          <p:cNvSpPr/>
          <p:nvPr/>
        </p:nvSpPr>
        <p:spPr>
          <a:xfrm>
            <a:off x="2880360" y="3931920"/>
            <a:ext cx="685800" cy="201168"/>
          </a:xfrm>
          <a:prstGeom prst="rect">
            <a:avLst/>
          </a:prstGeom>
          <a:noFill/>
          <a:ln/>
        </p:spPr>
        <p:txBody>
          <a:bodyPr wrap="square" lIns="0" tIns="0" rIns="0" bIns="0" rtlCol="0" anchor="ctr"/>
          <a:lstStyle/>
          <a:p>
            <a:pPr algn="r" indent="0" marL="0">
              <a:buNone/>
            </a:pPr>
            <a:r>
              <a:rPr lang="en-US" sz="1130" dirty="0">
                <a:solidFill>
                  <a:srgbClr val="334155"/>
                </a:solidFill>
                <a:latin typeface="Aptos" pitchFamily="34" charset="0"/>
                <a:ea typeface="Aptos" pitchFamily="34" charset="-122"/>
                <a:cs typeface="Aptos" pitchFamily="34" charset="-120"/>
              </a:rPr>
              <a:t>2.540</a:t>
            </a:r>
            <a:endParaRPr lang="en-US" sz="1130" dirty="0"/>
          </a:p>
        </p:txBody>
      </p:sp>
      <p:sp>
        <p:nvSpPr>
          <p:cNvPr id="30" name="Text 28"/>
          <p:cNvSpPr/>
          <p:nvPr/>
        </p:nvSpPr>
        <p:spPr>
          <a:xfrm>
            <a:off x="3886200" y="3931920"/>
            <a:ext cx="685800" cy="201168"/>
          </a:xfrm>
          <a:prstGeom prst="rect">
            <a:avLst/>
          </a:prstGeom>
          <a:noFill/>
          <a:ln/>
        </p:spPr>
        <p:txBody>
          <a:bodyPr wrap="square" lIns="0" tIns="0" rIns="0" bIns="0" rtlCol="0" anchor="ctr"/>
          <a:lstStyle/>
          <a:p>
            <a:pPr algn="r" indent="0" marL="0">
              <a:buNone/>
            </a:pPr>
            <a:r>
              <a:rPr lang="en-US" sz="1130" b="1" dirty="0">
                <a:solidFill>
                  <a:srgbClr val="334155"/>
                </a:solidFill>
                <a:latin typeface="Aptos" pitchFamily="34" charset="0"/>
                <a:ea typeface="Aptos" pitchFamily="34" charset="-122"/>
                <a:cs typeface="Aptos" pitchFamily="34" charset="-120"/>
              </a:rPr>
              <a:t>2.922</a:t>
            </a:r>
            <a:endParaRPr lang="en-US" sz="1130" dirty="0"/>
          </a:p>
        </p:txBody>
      </p:sp>
      <p:sp>
        <p:nvSpPr>
          <p:cNvPr id="31" name="Text 29"/>
          <p:cNvSpPr/>
          <p:nvPr/>
        </p:nvSpPr>
        <p:spPr>
          <a:xfrm>
            <a:off x="5029200" y="3931920"/>
            <a:ext cx="594360" cy="201168"/>
          </a:xfrm>
          <a:prstGeom prst="rect">
            <a:avLst/>
          </a:prstGeom>
          <a:noFill/>
          <a:ln/>
        </p:spPr>
        <p:txBody>
          <a:bodyPr wrap="square" lIns="0" tIns="0" rIns="0" bIns="0" rtlCol="0" anchor="ctr"/>
          <a:lstStyle/>
          <a:p>
            <a:pPr algn="r" indent="0" marL="0">
              <a:buNone/>
            </a:pPr>
            <a:r>
              <a:rPr lang="en-US" sz="1130" b="1" dirty="0">
                <a:solidFill>
                  <a:srgbClr val="334155"/>
                </a:solidFill>
                <a:latin typeface="Aptos" pitchFamily="34" charset="0"/>
                <a:ea typeface="Aptos" pitchFamily="34" charset="-122"/>
                <a:cs typeface="Aptos" pitchFamily="34" charset="-120"/>
              </a:rPr>
              <a:t>0.009</a:t>
            </a:r>
            <a:endParaRPr lang="en-US" sz="1130" dirty="0"/>
          </a:p>
        </p:txBody>
      </p:sp>
      <p:sp>
        <p:nvSpPr>
          <p:cNvPr id="32" name="Text 30"/>
          <p:cNvSpPr/>
          <p:nvPr/>
        </p:nvSpPr>
        <p:spPr>
          <a:xfrm>
            <a:off x="868680" y="4800600"/>
            <a:ext cx="5029200" cy="219456"/>
          </a:xfrm>
          <a:prstGeom prst="rect">
            <a:avLst/>
          </a:prstGeom>
          <a:noFill/>
          <a:ln/>
        </p:spPr>
        <p:txBody>
          <a:bodyPr wrap="square" lIns="0" tIns="0" rIns="0" bIns="0" rtlCol="0" anchor="ctr"/>
          <a:lstStyle/>
          <a:p>
            <a:pPr indent="0" marL="0">
              <a:buNone/>
            </a:pPr>
            <a:r>
              <a:rPr lang="en-US" sz="1050" dirty="0">
                <a:solidFill>
                  <a:srgbClr val="64748B"/>
                </a:solidFill>
                <a:latin typeface="Aptos" pitchFamily="34" charset="0"/>
                <a:ea typeface="Aptos" pitchFamily="34" charset="-122"/>
                <a:cs typeface="Aptos" pitchFamily="34" charset="-120"/>
              </a:rPr>
              <a:t>Lower is better for MAE/RMSE; higher is better for R².</a:t>
            </a:r>
            <a:endParaRPr lang="en-US" sz="1050" dirty="0"/>
          </a:p>
        </p:txBody>
      </p:sp>
      <p:sp>
        <p:nvSpPr>
          <p:cNvPr id="33" name="Shape 31"/>
          <p:cNvSpPr/>
          <p:nvPr/>
        </p:nvSpPr>
        <p:spPr>
          <a:xfrm>
            <a:off x="6812280" y="1143000"/>
            <a:ext cx="1920240" cy="987552"/>
          </a:xfrm>
          <a:prstGeom prst="roundRect">
            <a:avLst>
              <a:gd name="adj" fmla="val 11111"/>
            </a:avLst>
          </a:prstGeom>
          <a:solidFill>
            <a:srgbClr val="FFFFFF"/>
          </a:solidFill>
          <a:ln w="12700">
            <a:solidFill>
              <a:srgbClr val="E5E7EB"/>
            </a:solidFill>
            <a:prstDash val="solid"/>
          </a:ln>
        </p:spPr>
      </p:sp>
      <p:sp>
        <p:nvSpPr>
          <p:cNvPr id="34" name="Text 32"/>
          <p:cNvSpPr/>
          <p:nvPr/>
        </p:nvSpPr>
        <p:spPr>
          <a:xfrm>
            <a:off x="6976872" y="1289304"/>
            <a:ext cx="1591056" cy="384048"/>
          </a:xfrm>
          <a:prstGeom prst="rect">
            <a:avLst/>
          </a:prstGeom>
          <a:noFill/>
          <a:ln/>
        </p:spPr>
        <p:txBody>
          <a:bodyPr wrap="square" lIns="0" tIns="0" rIns="0" bIns="0" rtlCol="0" anchor="ctr"/>
          <a:lstStyle/>
          <a:p>
            <a:pPr algn="ctr" indent="0" marL="0">
              <a:buNone/>
            </a:pPr>
            <a:r>
              <a:rPr lang="en-US" sz="2300" b="1" dirty="0">
                <a:solidFill>
                  <a:srgbClr val="1B4332"/>
                </a:solidFill>
                <a:latin typeface="Aptos Display" pitchFamily="34" charset="0"/>
                <a:ea typeface="Aptos Display" pitchFamily="34" charset="-122"/>
                <a:cs typeface="Aptos Display" pitchFamily="34" charset="-120"/>
              </a:rPr>
              <a:t>2.525</a:t>
            </a:r>
            <a:endParaRPr lang="en-US" sz="2300" dirty="0"/>
          </a:p>
        </p:txBody>
      </p:sp>
      <p:sp>
        <p:nvSpPr>
          <p:cNvPr id="35" name="Text 33"/>
          <p:cNvSpPr/>
          <p:nvPr/>
        </p:nvSpPr>
        <p:spPr>
          <a:xfrm>
            <a:off x="6976872" y="1746504"/>
            <a:ext cx="1591056" cy="246888"/>
          </a:xfrm>
          <a:prstGeom prst="rect">
            <a:avLst/>
          </a:prstGeom>
          <a:noFill/>
          <a:ln/>
        </p:spPr>
        <p:txBody>
          <a:bodyPr wrap="square" lIns="254" tIns="254" rIns="254" bIns="254" rtlCol="0" anchor="ctr"/>
          <a:lstStyle/>
          <a:p>
            <a:pPr algn="ctr" indent="0" marL="0">
              <a:buNone/>
            </a:pPr>
            <a:r>
              <a:rPr lang="en-US" sz="1050" dirty="0">
                <a:solidFill>
                  <a:srgbClr val="334155"/>
                </a:solidFill>
                <a:latin typeface="Aptos" pitchFamily="34" charset="0"/>
                <a:ea typeface="Aptos" pitchFamily="34" charset="-122"/>
                <a:cs typeface="Aptos" pitchFamily="34" charset="-120"/>
              </a:rPr>
              <a:t>lowest MAE: RF engineered</a:t>
            </a:r>
            <a:endParaRPr lang="en-US" sz="1050" dirty="0"/>
          </a:p>
        </p:txBody>
      </p:sp>
      <p:sp>
        <p:nvSpPr>
          <p:cNvPr id="36" name="Shape 34"/>
          <p:cNvSpPr/>
          <p:nvPr/>
        </p:nvSpPr>
        <p:spPr>
          <a:xfrm>
            <a:off x="9189720" y="1143000"/>
            <a:ext cx="1920240" cy="987552"/>
          </a:xfrm>
          <a:prstGeom prst="roundRect">
            <a:avLst>
              <a:gd name="adj" fmla="val 11111"/>
            </a:avLst>
          </a:prstGeom>
          <a:solidFill>
            <a:srgbClr val="FFFFFF"/>
          </a:solidFill>
          <a:ln w="12700">
            <a:solidFill>
              <a:srgbClr val="E5E7EB"/>
            </a:solidFill>
            <a:prstDash val="solid"/>
          </a:ln>
        </p:spPr>
      </p:sp>
      <p:sp>
        <p:nvSpPr>
          <p:cNvPr id="37" name="Text 35"/>
          <p:cNvSpPr/>
          <p:nvPr/>
        </p:nvSpPr>
        <p:spPr>
          <a:xfrm>
            <a:off x="9354312" y="1289304"/>
            <a:ext cx="1591056" cy="384048"/>
          </a:xfrm>
          <a:prstGeom prst="rect">
            <a:avLst/>
          </a:prstGeom>
          <a:noFill/>
          <a:ln/>
        </p:spPr>
        <p:txBody>
          <a:bodyPr wrap="square" lIns="0" tIns="0" rIns="0" bIns="0" rtlCol="0" anchor="ctr"/>
          <a:lstStyle/>
          <a:p>
            <a:pPr algn="ctr" indent="0" marL="0">
              <a:buNone/>
            </a:pPr>
            <a:r>
              <a:rPr lang="en-US" sz="2300" b="1" dirty="0">
                <a:solidFill>
                  <a:srgbClr val="2563EB"/>
                </a:solidFill>
                <a:latin typeface="Aptos Display" pitchFamily="34" charset="0"/>
                <a:ea typeface="Aptos Display" pitchFamily="34" charset="-122"/>
                <a:cs typeface="Aptos Display" pitchFamily="34" charset="-120"/>
              </a:rPr>
              <a:t>2.9219</a:t>
            </a:r>
            <a:endParaRPr lang="en-US" sz="2300" dirty="0"/>
          </a:p>
        </p:txBody>
      </p:sp>
      <p:sp>
        <p:nvSpPr>
          <p:cNvPr id="38" name="Text 36"/>
          <p:cNvSpPr/>
          <p:nvPr/>
        </p:nvSpPr>
        <p:spPr>
          <a:xfrm>
            <a:off x="9354312" y="1746504"/>
            <a:ext cx="1591056" cy="246888"/>
          </a:xfrm>
          <a:prstGeom prst="rect">
            <a:avLst/>
          </a:prstGeom>
          <a:noFill/>
          <a:ln/>
        </p:spPr>
        <p:txBody>
          <a:bodyPr wrap="square" lIns="254" tIns="254" rIns="254" bIns="254" rtlCol="0" anchor="ctr"/>
          <a:lstStyle/>
          <a:p>
            <a:pPr algn="ctr" indent="0" marL="0">
              <a:buNone/>
            </a:pPr>
            <a:r>
              <a:rPr lang="en-US" sz="1050" dirty="0">
                <a:solidFill>
                  <a:srgbClr val="334155"/>
                </a:solidFill>
                <a:latin typeface="Aptos" pitchFamily="34" charset="0"/>
                <a:ea typeface="Aptos" pitchFamily="34" charset="-122"/>
                <a:cs typeface="Aptos" pitchFamily="34" charset="-120"/>
              </a:rPr>
              <a:t>lowest RMSE: XGBoost</a:t>
            </a:r>
            <a:endParaRPr lang="en-US" sz="1050" dirty="0"/>
          </a:p>
        </p:txBody>
      </p:sp>
      <p:sp>
        <p:nvSpPr>
          <p:cNvPr id="39" name="Shape 37"/>
          <p:cNvSpPr/>
          <p:nvPr/>
        </p:nvSpPr>
        <p:spPr>
          <a:xfrm>
            <a:off x="6812280" y="2423160"/>
            <a:ext cx="1920240" cy="987552"/>
          </a:xfrm>
          <a:prstGeom prst="roundRect">
            <a:avLst>
              <a:gd name="adj" fmla="val 11111"/>
            </a:avLst>
          </a:prstGeom>
          <a:solidFill>
            <a:srgbClr val="FFFFFF"/>
          </a:solidFill>
          <a:ln w="12700">
            <a:solidFill>
              <a:srgbClr val="E5E7EB"/>
            </a:solidFill>
            <a:prstDash val="solid"/>
          </a:ln>
        </p:spPr>
      </p:sp>
      <p:sp>
        <p:nvSpPr>
          <p:cNvPr id="40" name="Text 38"/>
          <p:cNvSpPr/>
          <p:nvPr/>
        </p:nvSpPr>
        <p:spPr>
          <a:xfrm>
            <a:off x="6976872" y="2569464"/>
            <a:ext cx="1591056" cy="384048"/>
          </a:xfrm>
          <a:prstGeom prst="rect">
            <a:avLst/>
          </a:prstGeom>
          <a:noFill/>
          <a:ln/>
        </p:spPr>
        <p:txBody>
          <a:bodyPr wrap="square" lIns="0" tIns="0" rIns="0" bIns="0" rtlCol="0" anchor="ctr"/>
          <a:lstStyle/>
          <a:p>
            <a:pPr algn="ctr" indent="0" marL="0">
              <a:buNone/>
            </a:pPr>
            <a:r>
              <a:rPr lang="en-US" sz="2300" b="1" dirty="0">
                <a:solidFill>
                  <a:srgbClr val="D97706"/>
                </a:solidFill>
                <a:latin typeface="Aptos Display" pitchFamily="34" charset="0"/>
                <a:ea typeface="Aptos Display" pitchFamily="34" charset="-122"/>
                <a:cs typeface="Aptos Display" pitchFamily="34" charset="-120"/>
              </a:rPr>
              <a:t>0.0041</a:t>
            </a:r>
            <a:endParaRPr lang="en-US" sz="2300" dirty="0"/>
          </a:p>
        </p:txBody>
      </p:sp>
      <p:sp>
        <p:nvSpPr>
          <p:cNvPr id="41" name="Text 39"/>
          <p:cNvSpPr/>
          <p:nvPr/>
        </p:nvSpPr>
        <p:spPr>
          <a:xfrm>
            <a:off x="6976872" y="3026664"/>
            <a:ext cx="1591056" cy="246888"/>
          </a:xfrm>
          <a:prstGeom prst="rect">
            <a:avLst/>
          </a:prstGeom>
          <a:noFill/>
          <a:ln/>
        </p:spPr>
        <p:txBody>
          <a:bodyPr wrap="square" lIns="254" tIns="254" rIns="254" bIns="254" rtlCol="0" anchor="ctr"/>
          <a:lstStyle/>
          <a:p>
            <a:pPr algn="ctr" indent="0" marL="0">
              <a:buNone/>
            </a:pPr>
            <a:r>
              <a:rPr lang="en-US" sz="1050" dirty="0">
                <a:solidFill>
                  <a:srgbClr val="334155"/>
                </a:solidFill>
                <a:latin typeface="Aptos" pitchFamily="34" charset="0"/>
                <a:ea typeface="Aptos" pitchFamily="34" charset="-122"/>
                <a:cs typeface="Aptos" pitchFamily="34" charset="-120"/>
              </a:rPr>
              <a:t>RMSE difference: XGB vs RF</a:t>
            </a:r>
            <a:endParaRPr lang="en-US" sz="1050" dirty="0"/>
          </a:p>
        </p:txBody>
      </p:sp>
      <p:sp>
        <p:nvSpPr>
          <p:cNvPr id="42" name="Shape 40"/>
          <p:cNvSpPr/>
          <p:nvPr/>
        </p:nvSpPr>
        <p:spPr>
          <a:xfrm>
            <a:off x="9189720" y="2423160"/>
            <a:ext cx="1920240" cy="987552"/>
          </a:xfrm>
          <a:prstGeom prst="roundRect">
            <a:avLst>
              <a:gd name="adj" fmla="val 11111"/>
            </a:avLst>
          </a:prstGeom>
          <a:solidFill>
            <a:srgbClr val="FFFFFF"/>
          </a:solidFill>
          <a:ln w="12700">
            <a:solidFill>
              <a:srgbClr val="E5E7EB"/>
            </a:solidFill>
            <a:prstDash val="solid"/>
          </a:ln>
        </p:spPr>
      </p:sp>
      <p:sp>
        <p:nvSpPr>
          <p:cNvPr id="43" name="Text 41"/>
          <p:cNvSpPr/>
          <p:nvPr/>
        </p:nvSpPr>
        <p:spPr>
          <a:xfrm>
            <a:off x="9354312" y="2569464"/>
            <a:ext cx="1591056" cy="384048"/>
          </a:xfrm>
          <a:prstGeom prst="rect">
            <a:avLst/>
          </a:prstGeom>
          <a:noFill/>
          <a:ln/>
        </p:spPr>
        <p:txBody>
          <a:bodyPr wrap="square" lIns="0" tIns="0" rIns="0" bIns="0" rtlCol="0" anchor="ctr"/>
          <a:lstStyle/>
          <a:p>
            <a:pPr algn="ctr" indent="0" marL="0">
              <a:buNone/>
            </a:pPr>
            <a:r>
              <a:rPr lang="en-US" sz="2300" b="1" dirty="0">
                <a:solidFill>
                  <a:srgbClr val="DC2626"/>
                </a:solidFill>
                <a:latin typeface="Aptos Display" pitchFamily="34" charset="0"/>
                <a:ea typeface="Aptos Display" pitchFamily="34" charset="-122"/>
                <a:cs typeface="Aptos Display" pitchFamily="34" charset="-120"/>
              </a:rPr>
              <a:t>&lt;1%</a:t>
            </a:r>
            <a:endParaRPr lang="en-US" sz="2300" dirty="0"/>
          </a:p>
        </p:txBody>
      </p:sp>
      <p:sp>
        <p:nvSpPr>
          <p:cNvPr id="44" name="Text 42"/>
          <p:cNvSpPr/>
          <p:nvPr/>
        </p:nvSpPr>
        <p:spPr>
          <a:xfrm>
            <a:off x="9354312" y="3026664"/>
            <a:ext cx="1591056" cy="246888"/>
          </a:xfrm>
          <a:prstGeom prst="rect">
            <a:avLst/>
          </a:prstGeom>
          <a:noFill/>
          <a:ln/>
        </p:spPr>
        <p:txBody>
          <a:bodyPr wrap="square" lIns="254" tIns="254" rIns="254" bIns="254" rtlCol="0" anchor="ctr"/>
          <a:lstStyle/>
          <a:p>
            <a:pPr algn="ctr" indent="0" marL="0">
              <a:buNone/>
            </a:pPr>
            <a:r>
              <a:rPr lang="en-US" sz="1050" dirty="0">
                <a:solidFill>
                  <a:srgbClr val="334155"/>
                </a:solidFill>
                <a:latin typeface="Aptos" pitchFamily="34" charset="0"/>
                <a:ea typeface="Aptos" pitchFamily="34" charset="-122"/>
                <a:cs typeface="Aptos" pitchFamily="34" charset="-120"/>
              </a:rPr>
              <a:t>best variation explained</a:t>
            </a:r>
            <a:endParaRPr lang="en-US" sz="1050" dirty="0"/>
          </a:p>
        </p:txBody>
      </p:sp>
      <p:sp>
        <p:nvSpPr>
          <p:cNvPr id="45" name="Shape 43"/>
          <p:cNvSpPr/>
          <p:nvPr/>
        </p:nvSpPr>
        <p:spPr>
          <a:xfrm>
            <a:off x="6812280" y="3950208"/>
            <a:ext cx="4297680" cy="914400"/>
          </a:xfrm>
          <a:prstGeom prst="roundRect">
            <a:avLst>
              <a:gd name="adj" fmla="val 12000"/>
            </a:avLst>
          </a:prstGeom>
          <a:solidFill>
            <a:srgbClr val="FFFFFF"/>
          </a:solidFill>
          <a:ln w="15240">
            <a:solidFill>
              <a:srgbClr val="1B4332"/>
            </a:solidFill>
            <a:prstDash val="solid"/>
          </a:ln>
        </p:spPr>
      </p:sp>
      <p:sp>
        <p:nvSpPr>
          <p:cNvPr id="46" name="Text 44"/>
          <p:cNvSpPr/>
          <p:nvPr/>
        </p:nvSpPr>
        <p:spPr>
          <a:xfrm>
            <a:off x="6976872" y="4069080"/>
            <a:ext cx="3968496" cy="713232"/>
          </a:xfrm>
          <a:prstGeom prst="rect">
            <a:avLst/>
          </a:prstGeom>
          <a:noFill/>
          <a:ln/>
        </p:spPr>
        <p:txBody>
          <a:bodyPr wrap="square" lIns="254" tIns="254" rIns="254" bIns="254" rtlCol="0" anchor="ctr">
            <a:normAutofit/>
          </a:bodyPr>
          <a:lstStyle/>
          <a:p>
            <a:pPr indent="0" marL="0">
              <a:buNone/>
            </a:pPr>
            <a:r>
              <a:rPr lang="en-US" sz="1300" dirty="0">
                <a:solidFill>
                  <a:srgbClr val="334155"/>
                </a:solidFill>
                <a:latin typeface="Aptos" pitchFamily="34" charset="0"/>
                <a:ea typeface="Aptos" pitchFamily="34" charset="-122"/>
                <a:cs typeface="Aptos" pitchFamily="34" charset="-120"/>
              </a:rPr>
              <a:t>Decision: model choice changed scores only marginally. The real bottleneck was data signal quality.</a:t>
            </a:r>
            <a:endParaRPr lang="en-US" sz="1300" dirty="0"/>
          </a:p>
        </p:txBody>
      </p:sp>
      <p:sp>
        <p:nvSpPr>
          <p:cNvPr id="47" name="Text 45"/>
          <p:cNvSpPr/>
          <p:nvPr/>
        </p:nvSpPr>
        <p:spPr>
          <a:xfrm>
            <a:off x="11109960" y="6446520"/>
            <a:ext cx="548640" cy="201168"/>
          </a:xfrm>
          <a:prstGeom prst="rect">
            <a:avLst/>
          </a:prstGeom>
          <a:noFill/>
          <a:ln/>
        </p:spPr>
        <p:txBody>
          <a:bodyPr wrap="square" lIns="0" tIns="0" rIns="0" bIns="0" rtlCol="0" anchor="ctr"/>
          <a:lstStyle/>
          <a:p>
            <a:pPr algn="r" indent="0" marL="0">
              <a:buNone/>
            </a:pPr>
            <a:r>
              <a:rPr lang="en-US" sz="900" dirty="0">
                <a:solidFill>
                  <a:srgbClr val="94A3B8"/>
                </a:solidFill>
                <a:latin typeface="Aptos" pitchFamily="34" charset="0"/>
                <a:ea typeface="Aptos" pitchFamily="34" charset="-122"/>
                <a:cs typeface="Aptos"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2E8"/>
        </a:solidFill>
      </p:bgPr>
    </p:bg>
    <p:spTree>
      <p:nvGrpSpPr>
        <p:cNvPr id="1" name=""/>
        <p:cNvGrpSpPr/>
        <p:nvPr/>
      </p:nvGrpSpPr>
      <p:grpSpPr>
        <a:xfrm>
          <a:off x="0" y="0"/>
          <a:ext cx="0" cy="0"/>
          <a:chOff x="0" y="0"/>
          <a:chExt cx="0" cy="0"/>
        </a:xfrm>
      </p:grpSpPr>
      <p:sp>
        <p:nvSpPr>
          <p:cNvPr id="2" name="Text 0"/>
          <p:cNvSpPr/>
          <p:nvPr/>
        </p:nvSpPr>
        <p:spPr>
          <a:xfrm>
            <a:off x="502920" y="329184"/>
            <a:ext cx="7406640" cy="329184"/>
          </a:xfrm>
          <a:prstGeom prst="rect">
            <a:avLst/>
          </a:prstGeom>
          <a:noFill/>
          <a:ln/>
        </p:spPr>
        <p:txBody>
          <a:bodyPr wrap="square" lIns="0" tIns="0" rIns="0" bIns="0" rtlCol="0" anchor="ctr"/>
          <a:lstStyle/>
          <a:p>
            <a:pPr indent="0" marL="0">
              <a:buNone/>
            </a:pPr>
            <a:r>
              <a:rPr lang="en-US" sz="2300" b="1" dirty="0">
                <a:solidFill>
                  <a:srgbClr val="1B4332"/>
                </a:solidFill>
                <a:latin typeface="Aptos Display" pitchFamily="34" charset="0"/>
                <a:ea typeface="Aptos Display" pitchFamily="34" charset="-122"/>
                <a:cs typeface="Aptos Display" pitchFamily="34" charset="-120"/>
              </a:rPr>
              <a:t>Final selection: Random Forest for prototype deployment</a:t>
            </a:r>
            <a:endParaRPr lang="en-US" sz="2300" dirty="0"/>
          </a:p>
        </p:txBody>
      </p:sp>
      <p:sp>
        <p:nvSpPr>
          <p:cNvPr id="3" name="Text 1"/>
          <p:cNvSpPr/>
          <p:nvPr/>
        </p:nvSpPr>
        <p:spPr>
          <a:xfrm>
            <a:off x="8549640" y="384048"/>
            <a:ext cx="3291840" cy="219456"/>
          </a:xfrm>
          <a:prstGeom prst="rect">
            <a:avLst/>
          </a:prstGeom>
          <a:noFill/>
          <a:ln/>
        </p:spPr>
        <p:txBody>
          <a:bodyPr wrap="square" lIns="0" tIns="0" rIns="0" bIns="0" rtlCol="0" anchor="ctr"/>
          <a:lstStyle/>
          <a:p>
            <a:pPr algn="r" indent="0" marL="0">
              <a:buNone/>
            </a:pPr>
            <a:r>
              <a:rPr lang="en-US" sz="950" dirty="0">
                <a:solidFill>
                  <a:srgbClr val="64748B"/>
                </a:solidFill>
                <a:latin typeface="Aptos" pitchFamily="34" charset="0"/>
                <a:ea typeface="Aptos" pitchFamily="34" charset="-122"/>
                <a:cs typeface="Aptos" pitchFamily="34" charset="-120"/>
              </a:rPr>
              <a:t>Gamma 2 • Crop Yield Prediction</a:t>
            </a:r>
            <a:endParaRPr lang="en-US" sz="950" dirty="0"/>
          </a:p>
        </p:txBody>
      </p:sp>
      <p:sp>
        <p:nvSpPr>
          <p:cNvPr id="4" name="Shape 2"/>
          <p:cNvSpPr/>
          <p:nvPr/>
        </p:nvSpPr>
        <p:spPr>
          <a:xfrm>
            <a:off x="502920" y="768096"/>
            <a:ext cx="11201400" cy="0"/>
          </a:xfrm>
          <a:prstGeom prst="line">
            <a:avLst/>
          </a:prstGeom>
          <a:noFill/>
          <a:ln w="12700">
            <a:solidFill>
              <a:srgbClr val="E2E8F0"/>
            </a:solidFill>
            <a:prstDash val="solid"/>
          </a:ln>
        </p:spPr>
      </p:sp>
      <p:sp>
        <p:nvSpPr>
          <p:cNvPr id="5" name="Shape 3"/>
          <p:cNvSpPr/>
          <p:nvPr/>
        </p:nvSpPr>
        <p:spPr>
          <a:xfrm>
            <a:off x="667512" y="1033272"/>
            <a:ext cx="5065776" cy="3511296"/>
          </a:xfrm>
          <a:prstGeom prst="roundRect">
            <a:avLst>
              <a:gd name="adj" fmla="val 3125"/>
            </a:avLst>
          </a:prstGeom>
          <a:solidFill>
            <a:srgbClr val="FFFFFF"/>
          </a:solidFill>
          <a:ln w="12700">
            <a:solidFill>
              <a:srgbClr val="E5E7EB"/>
            </a:solidFill>
            <a:prstDash val="solid"/>
          </a:ln>
        </p:spPr>
      </p:sp>
      <p:pic>
        <p:nvPicPr>
          <p:cNvPr id="6" name="Image 0" descr="/mnt/data/extracted_report_images/p30_img1.png">    </p:cNvPr>
          <p:cNvPicPr>
            <a:picLocks noChangeAspect="1"/>
          </p:cNvPicPr>
          <p:nvPr/>
        </p:nvPicPr>
        <p:blipFill>
          <a:blip r:embed="rId1"/>
          <a:stretch>
            <a:fillRect/>
          </a:stretch>
        </p:blipFill>
        <p:spPr>
          <a:xfrm>
            <a:off x="1166106" y="1051560"/>
            <a:ext cx="4068588" cy="3474720"/>
          </a:xfrm>
          <a:prstGeom prst="rect">
            <a:avLst/>
          </a:prstGeom>
        </p:spPr>
      </p:pic>
      <p:sp>
        <p:nvSpPr>
          <p:cNvPr id="7" name="Shape 4"/>
          <p:cNvSpPr/>
          <p:nvPr/>
        </p:nvSpPr>
        <p:spPr>
          <a:xfrm>
            <a:off x="6291072" y="1033272"/>
            <a:ext cx="5065776" cy="3511296"/>
          </a:xfrm>
          <a:prstGeom prst="roundRect">
            <a:avLst>
              <a:gd name="adj" fmla="val 3125"/>
            </a:avLst>
          </a:prstGeom>
          <a:solidFill>
            <a:srgbClr val="FFFFFF"/>
          </a:solidFill>
          <a:ln w="12700">
            <a:solidFill>
              <a:srgbClr val="E5E7EB"/>
            </a:solidFill>
            <a:prstDash val="solid"/>
          </a:ln>
        </p:spPr>
      </p:sp>
      <p:pic>
        <p:nvPicPr>
          <p:cNvPr id="8" name="Image 1" descr="/mnt/data/extracted_report_images/p31_img1.png">    </p:cNvPr>
          <p:cNvPicPr>
            <a:picLocks noChangeAspect="1"/>
          </p:cNvPicPr>
          <p:nvPr/>
        </p:nvPicPr>
        <p:blipFill>
          <a:blip r:embed="rId2"/>
          <a:stretch>
            <a:fillRect/>
          </a:stretch>
        </p:blipFill>
        <p:spPr>
          <a:xfrm>
            <a:off x="6789666" y="1051560"/>
            <a:ext cx="4068588" cy="3474720"/>
          </a:xfrm>
          <a:prstGeom prst="rect">
            <a:avLst/>
          </a:prstGeom>
        </p:spPr>
      </p:pic>
      <p:sp>
        <p:nvSpPr>
          <p:cNvPr id="9" name="Text 5"/>
          <p:cNvSpPr/>
          <p:nvPr/>
        </p:nvSpPr>
        <p:spPr>
          <a:xfrm>
            <a:off x="868680" y="4736592"/>
            <a:ext cx="10058400" cy="347472"/>
          </a:xfrm>
          <a:prstGeom prst="rect">
            <a:avLst/>
          </a:prstGeom>
          <a:noFill/>
          <a:ln/>
        </p:spPr>
        <p:txBody>
          <a:bodyPr wrap="square" lIns="0" tIns="0" rIns="0" bIns="0" rtlCol="0" anchor="ctr"/>
          <a:lstStyle/>
          <a:p>
            <a:pPr algn="ctr" indent="0" marL="0">
              <a:buNone/>
            </a:pPr>
            <a:r>
              <a:rPr lang="en-US" sz="2000" b="1" dirty="0">
                <a:solidFill>
                  <a:srgbClr val="1B4332"/>
                </a:solidFill>
                <a:latin typeface="Aptos Display" pitchFamily="34" charset="0"/>
                <a:ea typeface="Aptos Display" pitchFamily="34" charset="-122"/>
                <a:cs typeface="Aptos Display" pitchFamily="34" charset="-120"/>
              </a:rPr>
              <a:t>Both models predicted around the middle of the yield range</a:t>
            </a:r>
            <a:endParaRPr lang="en-US" sz="2000" dirty="0"/>
          </a:p>
        </p:txBody>
      </p:sp>
      <p:sp>
        <p:nvSpPr>
          <p:cNvPr id="10" name="Text 6"/>
          <p:cNvSpPr/>
          <p:nvPr/>
        </p:nvSpPr>
        <p:spPr>
          <a:xfrm>
            <a:off x="1280160" y="5230368"/>
            <a:ext cx="9326880" cy="530352"/>
          </a:xfrm>
          <a:prstGeom prst="rect">
            <a:avLst/>
          </a:prstGeom>
          <a:noFill/>
          <a:ln/>
        </p:spPr>
        <p:txBody>
          <a:bodyPr wrap="square" lIns="0" tIns="0" rIns="0" bIns="0" rtlCol="0" anchor="ctr">
            <a:normAutofit/>
          </a:bodyPr>
          <a:lstStyle/>
          <a:p>
            <a:pPr algn="ctr" indent="0" marL="0">
              <a:buNone/>
            </a:pPr>
            <a:r>
              <a:rPr lang="en-US" sz="1450" dirty="0">
                <a:solidFill>
                  <a:srgbClr val="334155"/>
                </a:solidFill>
                <a:latin typeface="Aptos" pitchFamily="34" charset="0"/>
                <a:ea typeface="Aptos" pitchFamily="34" charset="-122"/>
                <a:cs typeface="Aptos" pitchFamily="34" charset="-120"/>
              </a:rPr>
              <a:t>Random Forest was retained because it had the lowest MAE, slightly better mean CV RMSE, clearer interpretation workflow and was already integrated into Streamlit.</a:t>
            </a:r>
            <a:endParaRPr lang="en-US" sz="1450" dirty="0"/>
          </a:p>
        </p:txBody>
      </p:sp>
      <p:sp>
        <p:nvSpPr>
          <p:cNvPr id="11" name="Shape 7"/>
          <p:cNvSpPr/>
          <p:nvPr/>
        </p:nvSpPr>
        <p:spPr>
          <a:xfrm>
            <a:off x="2103120" y="6035040"/>
            <a:ext cx="7863840" cy="384048"/>
          </a:xfrm>
          <a:prstGeom prst="roundRect">
            <a:avLst>
              <a:gd name="adj" fmla="val 28571"/>
            </a:avLst>
          </a:prstGeom>
          <a:solidFill>
            <a:srgbClr val="FFF7ED"/>
          </a:solidFill>
          <a:ln w="15240">
            <a:solidFill>
              <a:srgbClr val="DC2626"/>
            </a:solidFill>
            <a:prstDash val="solid"/>
          </a:ln>
        </p:spPr>
      </p:sp>
      <p:sp>
        <p:nvSpPr>
          <p:cNvPr id="12" name="Text 8"/>
          <p:cNvSpPr/>
          <p:nvPr/>
        </p:nvSpPr>
        <p:spPr>
          <a:xfrm>
            <a:off x="2267712" y="6153912"/>
            <a:ext cx="7534656" cy="182880"/>
          </a:xfrm>
          <a:prstGeom prst="rect">
            <a:avLst/>
          </a:prstGeom>
          <a:noFill/>
          <a:ln/>
        </p:spPr>
        <p:txBody>
          <a:bodyPr wrap="square" lIns="254" tIns="254" rIns="254" bIns="254" rtlCol="0" anchor="ctr">
            <a:normAutofit/>
          </a:bodyPr>
          <a:lstStyle/>
          <a:p>
            <a:pPr indent="0" marL="0">
              <a:buNone/>
            </a:pPr>
            <a:r>
              <a:rPr lang="en-US" sz="1300" dirty="0">
                <a:solidFill>
                  <a:srgbClr val="334155"/>
                </a:solidFill>
                <a:latin typeface="Aptos" pitchFamily="34" charset="0"/>
                <a:ea typeface="Aptos" pitchFamily="34" charset="-122"/>
                <a:cs typeface="Aptos" pitchFamily="34" charset="-120"/>
              </a:rPr>
              <a:t>Selected for a technical prototype, not as a production-ready prediction engine.</a:t>
            </a:r>
            <a:endParaRPr lang="en-US" sz="1300" dirty="0"/>
          </a:p>
        </p:txBody>
      </p:sp>
      <p:sp>
        <p:nvSpPr>
          <p:cNvPr id="13" name="Text 9"/>
          <p:cNvSpPr/>
          <p:nvPr/>
        </p:nvSpPr>
        <p:spPr>
          <a:xfrm>
            <a:off x="11109960" y="6446520"/>
            <a:ext cx="548640" cy="201168"/>
          </a:xfrm>
          <a:prstGeom prst="rect">
            <a:avLst/>
          </a:prstGeom>
          <a:noFill/>
          <a:ln/>
        </p:spPr>
        <p:txBody>
          <a:bodyPr wrap="square" lIns="0" tIns="0" rIns="0" bIns="0" rtlCol="0" anchor="ctr"/>
          <a:lstStyle/>
          <a:p>
            <a:pPr algn="r" indent="0" marL="0">
              <a:buNone/>
            </a:pPr>
            <a:r>
              <a:rPr lang="en-US" sz="900" dirty="0">
                <a:solidFill>
                  <a:srgbClr val="94A3B8"/>
                </a:solidFill>
                <a:latin typeface="Aptos" pitchFamily="34" charset="0"/>
                <a:ea typeface="Aptos" pitchFamily="34" charset="-122"/>
                <a:cs typeface="Aptos"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2E8"/>
        </a:solidFill>
      </p:bgPr>
    </p:bg>
    <p:spTree>
      <p:nvGrpSpPr>
        <p:cNvPr id="1" name=""/>
        <p:cNvGrpSpPr/>
        <p:nvPr/>
      </p:nvGrpSpPr>
      <p:grpSpPr>
        <a:xfrm>
          <a:off x="0" y="0"/>
          <a:ext cx="0" cy="0"/>
          <a:chOff x="0" y="0"/>
          <a:chExt cx="0" cy="0"/>
        </a:xfrm>
      </p:grpSpPr>
      <p:sp>
        <p:nvSpPr>
          <p:cNvPr id="2" name="Text 0"/>
          <p:cNvSpPr/>
          <p:nvPr/>
        </p:nvSpPr>
        <p:spPr>
          <a:xfrm>
            <a:off x="502920" y="329184"/>
            <a:ext cx="7406640" cy="329184"/>
          </a:xfrm>
          <a:prstGeom prst="rect">
            <a:avLst/>
          </a:prstGeom>
          <a:noFill/>
          <a:ln/>
        </p:spPr>
        <p:txBody>
          <a:bodyPr wrap="square" lIns="0" tIns="0" rIns="0" bIns="0" rtlCol="0" anchor="ctr"/>
          <a:lstStyle/>
          <a:p>
            <a:pPr indent="0" marL="0">
              <a:buNone/>
            </a:pPr>
            <a:r>
              <a:rPr lang="en-US" sz="2300" b="1" dirty="0">
                <a:solidFill>
                  <a:srgbClr val="1B4332"/>
                </a:solidFill>
                <a:latin typeface="Aptos Display" pitchFamily="34" charset="0"/>
                <a:ea typeface="Aptos Display" pitchFamily="34" charset="-122"/>
                <a:cs typeface="Aptos Display" pitchFamily="34" charset="-120"/>
              </a:rPr>
              <a:t>Prototype: analysis turned into an interactive tool</a:t>
            </a:r>
            <a:endParaRPr lang="en-US" sz="2300" dirty="0"/>
          </a:p>
        </p:txBody>
      </p:sp>
      <p:sp>
        <p:nvSpPr>
          <p:cNvPr id="3" name="Text 1"/>
          <p:cNvSpPr/>
          <p:nvPr/>
        </p:nvSpPr>
        <p:spPr>
          <a:xfrm>
            <a:off x="8549640" y="384048"/>
            <a:ext cx="3291840" cy="219456"/>
          </a:xfrm>
          <a:prstGeom prst="rect">
            <a:avLst/>
          </a:prstGeom>
          <a:noFill/>
          <a:ln/>
        </p:spPr>
        <p:txBody>
          <a:bodyPr wrap="square" lIns="0" tIns="0" rIns="0" bIns="0" rtlCol="0" anchor="ctr"/>
          <a:lstStyle/>
          <a:p>
            <a:pPr algn="r" indent="0" marL="0">
              <a:buNone/>
            </a:pPr>
            <a:r>
              <a:rPr lang="en-US" sz="950" dirty="0">
                <a:solidFill>
                  <a:srgbClr val="64748B"/>
                </a:solidFill>
                <a:latin typeface="Aptos" pitchFamily="34" charset="0"/>
                <a:ea typeface="Aptos" pitchFamily="34" charset="-122"/>
                <a:cs typeface="Aptos" pitchFamily="34" charset="-120"/>
              </a:rPr>
              <a:t>Gamma 2 • Crop Yield Prediction</a:t>
            </a:r>
            <a:endParaRPr lang="en-US" sz="950" dirty="0"/>
          </a:p>
        </p:txBody>
      </p:sp>
      <p:sp>
        <p:nvSpPr>
          <p:cNvPr id="4" name="Shape 2"/>
          <p:cNvSpPr/>
          <p:nvPr/>
        </p:nvSpPr>
        <p:spPr>
          <a:xfrm>
            <a:off x="502920" y="768096"/>
            <a:ext cx="11201400" cy="0"/>
          </a:xfrm>
          <a:prstGeom prst="line">
            <a:avLst/>
          </a:prstGeom>
          <a:noFill/>
          <a:ln w="12700">
            <a:solidFill>
              <a:srgbClr val="E2E8F0"/>
            </a:solidFill>
            <a:prstDash val="solid"/>
          </a:ln>
        </p:spPr>
      </p:sp>
      <p:sp>
        <p:nvSpPr>
          <p:cNvPr id="5" name="Shape 3"/>
          <p:cNvSpPr/>
          <p:nvPr/>
        </p:nvSpPr>
        <p:spPr>
          <a:xfrm>
            <a:off x="603504" y="941832"/>
            <a:ext cx="5751576" cy="3191256"/>
          </a:xfrm>
          <a:prstGeom prst="roundRect">
            <a:avLst>
              <a:gd name="adj" fmla="val 3438"/>
            </a:avLst>
          </a:prstGeom>
          <a:solidFill>
            <a:srgbClr val="FFFFFF"/>
          </a:solidFill>
          <a:ln w="12700">
            <a:solidFill>
              <a:srgbClr val="E5E7EB"/>
            </a:solidFill>
            <a:prstDash val="solid"/>
          </a:ln>
        </p:spPr>
      </p:sp>
      <p:pic>
        <p:nvPicPr>
          <p:cNvPr id="6" name="Image 0" descr="/mnt/data/extracted_report_images/p47_img1.png">    </p:cNvPr>
          <p:cNvPicPr>
            <a:picLocks noChangeAspect="1"/>
          </p:cNvPicPr>
          <p:nvPr/>
        </p:nvPicPr>
        <p:blipFill>
          <a:blip r:embed="rId1"/>
          <a:srcRect l="0" r="0" t="0" b="0"/>
          <a:stretch/>
        </p:blipFill>
        <p:spPr>
          <a:xfrm>
            <a:off x="621792" y="960120"/>
            <a:ext cx="5715000" cy="3154680"/>
          </a:xfrm>
          <a:prstGeom prst="rect">
            <a:avLst/>
          </a:prstGeom>
        </p:spPr>
      </p:pic>
      <p:sp>
        <p:nvSpPr>
          <p:cNvPr id="7" name="Shape 4"/>
          <p:cNvSpPr/>
          <p:nvPr/>
        </p:nvSpPr>
        <p:spPr>
          <a:xfrm>
            <a:off x="6547104" y="941832"/>
            <a:ext cx="5047488" cy="3191256"/>
          </a:xfrm>
          <a:prstGeom prst="roundRect">
            <a:avLst>
              <a:gd name="adj" fmla="val 3438"/>
            </a:avLst>
          </a:prstGeom>
          <a:solidFill>
            <a:srgbClr val="FFFFFF"/>
          </a:solidFill>
          <a:ln w="12700">
            <a:solidFill>
              <a:srgbClr val="E5E7EB"/>
            </a:solidFill>
            <a:prstDash val="solid"/>
          </a:ln>
        </p:spPr>
      </p:sp>
      <p:pic>
        <p:nvPicPr>
          <p:cNvPr id="8" name="Image 1" descr="/mnt/data/extracted_report_images/p47_img2.png">    </p:cNvPr>
          <p:cNvPicPr>
            <a:picLocks noChangeAspect="1"/>
          </p:cNvPicPr>
          <p:nvPr/>
        </p:nvPicPr>
        <p:blipFill>
          <a:blip r:embed="rId2"/>
          <a:srcRect l="19583" r="19583" t="0" b="0"/>
          <a:stretch/>
        </p:blipFill>
        <p:spPr>
          <a:xfrm>
            <a:off x="6565392" y="960120"/>
            <a:ext cx="5010912" cy="3154680"/>
          </a:xfrm>
          <a:prstGeom prst="rect">
            <a:avLst/>
          </a:prstGeom>
        </p:spPr>
      </p:pic>
      <p:sp>
        <p:nvSpPr>
          <p:cNvPr id="9" name="Text 5"/>
          <p:cNvSpPr/>
          <p:nvPr/>
        </p:nvSpPr>
        <p:spPr>
          <a:xfrm>
            <a:off x="685800" y="4462272"/>
            <a:ext cx="2286000" cy="274320"/>
          </a:xfrm>
          <a:prstGeom prst="rect">
            <a:avLst/>
          </a:prstGeom>
          <a:noFill/>
          <a:ln/>
        </p:spPr>
        <p:txBody>
          <a:bodyPr wrap="square" lIns="0" tIns="0" rIns="0" bIns="0" rtlCol="0" anchor="ctr"/>
          <a:lstStyle/>
          <a:p>
            <a:pPr indent="0" marL="0">
              <a:buNone/>
            </a:pPr>
            <a:r>
              <a:rPr lang="en-US" sz="1800" b="1" dirty="0">
                <a:solidFill>
                  <a:srgbClr val="1B4332"/>
                </a:solidFill>
                <a:latin typeface="Aptos Display" pitchFamily="34" charset="0"/>
                <a:ea typeface="Aptos Display" pitchFamily="34" charset="-122"/>
                <a:cs typeface="Aptos Display" pitchFamily="34" charset="-120"/>
              </a:rPr>
              <a:t>Streamlit workflow</a:t>
            </a:r>
            <a:endParaRPr lang="en-US" sz="1800" dirty="0"/>
          </a:p>
        </p:txBody>
      </p:sp>
      <p:sp>
        <p:nvSpPr>
          <p:cNvPr id="10" name="Shape 6"/>
          <p:cNvSpPr/>
          <p:nvPr/>
        </p:nvSpPr>
        <p:spPr>
          <a:xfrm>
            <a:off x="713232" y="4919472"/>
            <a:ext cx="2103120" cy="621792"/>
          </a:xfrm>
          <a:prstGeom prst="roundRect">
            <a:avLst>
              <a:gd name="adj" fmla="val 20588"/>
            </a:avLst>
          </a:prstGeom>
          <a:solidFill>
            <a:srgbClr val="FFFFFF"/>
          </a:solidFill>
          <a:ln w="12700">
            <a:solidFill>
              <a:srgbClr val="D1D5DB"/>
            </a:solidFill>
            <a:prstDash val="solid"/>
          </a:ln>
        </p:spPr>
      </p:sp>
      <p:sp>
        <p:nvSpPr>
          <p:cNvPr id="11" name="Text 7"/>
          <p:cNvSpPr/>
          <p:nvPr/>
        </p:nvSpPr>
        <p:spPr>
          <a:xfrm>
            <a:off x="822960" y="5120640"/>
            <a:ext cx="1874520" cy="201168"/>
          </a:xfrm>
          <a:prstGeom prst="rect">
            <a:avLst/>
          </a:prstGeom>
          <a:noFill/>
          <a:ln/>
        </p:spPr>
        <p:txBody>
          <a:bodyPr wrap="square" lIns="0" tIns="0" rIns="0" bIns="0" rtlCol="0" anchor="ctr"/>
          <a:lstStyle/>
          <a:p>
            <a:pPr algn="ctr" indent="0" marL="0">
              <a:buNone/>
            </a:pPr>
            <a:r>
              <a:rPr lang="en-US" sz="1250" dirty="0">
                <a:solidFill>
                  <a:srgbClr val="334155"/>
                </a:solidFill>
                <a:latin typeface="Aptos" pitchFamily="34" charset="0"/>
                <a:ea typeface="Aptos" pitchFamily="34" charset="-122"/>
                <a:cs typeface="Aptos" pitchFamily="34" charset="-120"/>
              </a:rPr>
              <a:t>User input</a:t>
            </a:r>
            <a:endParaRPr lang="en-US" sz="1250" dirty="0"/>
          </a:p>
        </p:txBody>
      </p:sp>
      <p:sp>
        <p:nvSpPr>
          <p:cNvPr id="12" name="Text 8"/>
          <p:cNvSpPr/>
          <p:nvPr/>
        </p:nvSpPr>
        <p:spPr>
          <a:xfrm>
            <a:off x="2825496" y="5074920"/>
            <a:ext cx="201168" cy="274320"/>
          </a:xfrm>
          <a:prstGeom prst="rect">
            <a:avLst/>
          </a:prstGeom>
          <a:noFill/>
          <a:ln/>
        </p:spPr>
        <p:txBody>
          <a:bodyPr wrap="square" lIns="0" tIns="0" rIns="0" bIns="0" rtlCol="0" anchor="ctr"/>
          <a:lstStyle/>
          <a:p>
            <a:pPr algn="ctr" indent="0" marL="0">
              <a:buNone/>
            </a:pPr>
            <a:r>
              <a:rPr lang="en-US" sz="2000" b="1" dirty="0">
                <a:solidFill>
                  <a:srgbClr val="D97706"/>
                </a:solidFill>
                <a:latin typeface="Aptos Display" pitchFamily="34" charset="0"/>
                <a:ea typeface="Aptos Display" pitchFamily="34" charset="-122"/>
                <a:cs typeface="Aptos Display" pitchFamily="34" charset="-120"/>
              </a:rPr>
              <a:t>→</a:t>
            </a:r>
            <a:endParaRPr lang="en-US" sz="2000" dirty="0"/>
          </a:p>
        </p:txBody>
      </p:sp>
      <p:sp>
        <p:nvSpPr>
          <p:cNvPr id="13" name="Shape 9"/>
          <p:cNvSpPr/>
          <p:nvPr/>
        </p:nvSpPr>
        <p:spPr>
          <a:xfrm>
            <a:off x="3136392" y="4919472"/>
            <a:ext cx="2103120" cy="621792"/>
          </a:xfrm>
          <a:prstGeom prst="roundRect">
            <a:avLst>
              <a:gd name="adj" fmla="val 20588"/>
            </a:avLst>
          </a:prstGeom>
          <a:solidFill>
            <a:srgbClr val="FFFFFF"/>
          </a:solidFill>
          <a:ln w="12700">
            <a:solidFill>
              <a:srgbClr val="D1D5DB"/>
            </a:solidFill>
            <a:prstDash val="solid"/>
          </a:ln>
        </p:spPr>
      </p:sp>
      <p:sp>
        <p:nvSpPr>
          <p:cNvPr id="14" name="Text 10"/>
          <p:cNvSpPr/>
          <p:nvPr/>
        </p:nvSpPr>
        <p:spPr>
          <a:xfrm>
            <a:off x="3246120" y="5120640"/>
            <a:ext cx="1874520" cy="201168"/>
          </a:xfrm>
          <a:prstGeom prst="rect">
            <a:avLst/>
          </a:prstGeom>
          <a:noFill/>
          <a:ln/>
        </p:spPr>
        <p:txBody>
          <a:bodyPr wrap="square" lIns="0" tIns="0" rIns="0" bIns="0" rtlCol="0" anchor="ctr"/>
          <a:lstStyle/>
          <a:p>
            <a:pPr algn="ctr" indent="0" marL="0">
              <a:buNone/>
            </a:pPr>
            <a:r>
              <a:rPr lang="en-US" sz="1250" dirty="0">
                <a:solidFill>
                  <a:srgbClr val="334155"/>
                </a:solidFill>
                <a:latin typeface="Aptos" pitchFamily="34" charset="0"/>
                <a:ea typeface="Aptos" pitchFamily="34" charset="-122"/>
                <a:cs typeface="Aptos" pitchFamily="34" charset="-120"/>
              </a:rPr>
              <a:t>Feature engineering</a:t>
            </a:r>
            <a:endParaRPr lang="en-US" sz="1250" dirty="0"/>
          </a:p>
        </p:txBody>
      </p:sp>
      <p:sp>
        <p:nvSpPr>
          <p:cNvPr id="15" name="Text 11"/>
          <p:cNvSpPr/>
          <p:nvPr/>
        </p:nvSpPr>
        <p:spPr>
          <a:xfrm>
            <a:off x="5248656" y="5074920"/>
            <a:ext cx="201168" cy="274320"/>
          </a:xfrm>
          <a:prstGeom prst="rect">
            <a:avLst/>
          </a:prstGeom>
          <a:noFill/>
          <a:ln/>
        </p:spPr>
        <p:txBody>
          <a:bodyPr wrap="square" lIns="0" tIns="0" rIns="0" bIns="0" rtlCol="0" anchor="ctr"/>
          <a:lstStyle/>
          <a:p>
            <a:pPr algn="ctr" indent="0" marL="0">
              <a:buNone/>
            </a:pPr>
            <a:r>
              <a:rPr lang="en-US" sz="2000" b="1" dirty="0">
                <a:solidFill>
                  <a:srgbClr val="D97706"/>
                </a:solidFill>
                <a:latin typeface="Aptos Display" pitchFamily="34" charset="0"/>
                <a:ea typeface="Aptos Display" pitchFamily="34" charset="-122"/>
                <a:cs typeface="Aptos Display" pitchFamily="34" charset="-120"/>
              </a:rPr>
              <a:t>→</a:t>
            </a:r>
            <a:endParaRPr lang="en-US" sz="2000" dirty="0"/>
          </a:p>
        </p:txBody>
      </p:sp>
      <p:sp>
        <p:nvSpPr>
          <p:cNvPr id="16" name="Shape 12"/>
          <p:cNvSpPr/>
          <p:nvPr/>
        </p:nvSpPr>
        <p:spPr>
          <a:xfrm>
            <a:off x="5559552" y="4919472"/>
            <a:ext cx="2103120" cy="621792"/>
          </a:xfrm>
          <a:prstGeom prst="roundRect">
            <a:avLst>
              <a:gd name="adj" fmla="val 20588"/>
            </a:avLst>
          </a:prstGeom>
          <a:solidFill>
            <a:srgbClr val="FFFFFF"/>
          </a:solidFill>
          <a:ln w="12700">
            <a:solidFill>
              <a:srgbClr val="D1D5DB"/>
            </a:solidFill>
            <a:prstDash val="solid"/>
          </a:ln>
        </p:spPr>
      </p:sp>
      <p:sp>
        <p:nvSpPr>
          <p:cNvPr id="17" name="Text 13"/>
          <p:cNvSpPr/>
          <p:nvPr/>
        </p:nvSpPr>
        <p:spPr>
          <a:xfrm>
            <a:off x="5669280" y="5120640"/>
            <a:ext cx="1874520" cy="201168"/>
          </a:xfrm>
          <a:prstGeom prst="rect">
            <a:avLst/>
          </a:prstGeom>
          <a:noFill/>
          <a:ln/>
        </p:spPr>
        <p:txBody>
          <a:bodyPr wrap="square" lIns="0" tIns="0" rIns="0" bIns="0" rtlCol="0" anchor="ctr"/>
          <a:lstStyle/>
          <a:p>
            <a:pPr algn="ctr" indent="0" marL="0">
              <a:buNone/>
            </a:pPr>
            <a:r>
              <a:rPr lang="en-US" sz="1250" dirty="0">
                <a:solidFill>
                  <a:srgbClr val="334155"/>
                </a:solidFill>
                <a:latin typeface="Aptos" pitchFamily="34" charset="0"/>
                <a:ea typeface="Aptos" pitchFamily="34" charset="-122"/>
                <a:cs typeface="Aptos" pitchFamily="34" charset="-120"/>
              </a:rPr>
              <a:t>RF pipeline</a:t>
            </a:r>
            <a:endParaRPr lang="en-US" sz="1250" dirty="0"/>
          </a:p>
        </p:txBody>
      </p:sp>
      <p:sp>
        <p:nvSpPr>
          <p:cNvPr id="18" name="Text 14"/>
          <p:cNvSpPr/>
          <p:nvPr/>
        </p:nvSpPr>
        <p:spPr>
          <a:xfrm>
            <a:off x="7671816" y="5074920"/>
            <a:ext cx="201168" cy="274320"/>
          </a:xfrm>
          <a:prstGeom prst="rect">
            <a:avLst/>
          </a:prstGeom>
          <a:noFill/>
          <a:ln/>
        </p:spPr>
        <p:txBody>
          <a:bodyPr wrap="square" lIns="0" tIns="0" rIns="0" bIns="0" rtlCol="0" anchor="ctr"/>
          <a:lstStyle/>
          <a:p>
            <a:pPr algn="ctr" indent="0" marL="0">
              <a:buNone/>
            </a:pPr>
            <a:r>
              <a:rPr lang="en-US" sz="2000" b="1" dirty="0">
                <a:solidFill>
                  <a:srgbClr val="D97706"/>
                </a:solidFill>
                <a:latin typeface="Aptos Display" pitchFamily="34" charset="0"/>
                <a:ea typeface="Aptos Display" pitchFamily="34" charset="-122"/>
                <a:cs typeface="Aptos Display" pitchFamily="34" charset="-120"/>
              </a:rPr>
              <a:t>→</a:t>
            </a:r>
            <a:endParaRPr lang="en-US" sz="2000" dirty="0"/>
          </a:p>
        </p:txBody>
      </p:sp>
      <p:sp>
        <p:nvSpPr>
          <p:cNvPr id="19" name="Shape 15"/>
          <p:cNvSpPr/>
          <p:nvPr/>
        </p:nvSpPr>
        <p:spPr>
          <a:xfrm>
            <a:off x="7982712" y="4919472"/>
            <a:ext cx="2103120" cy="621792"/>
          </a:xfrm>
          <a:prstGeom prst="roundRect">
            <a:avLst>
              <a:gd name="adj" fmla="val 20588"/>
            </a:avLst>
          </a:prstGeom>
          <a:solidFill>
            <a:srgbClr val="E9F5EE"/>
          </a:solidFill>
          <a:ln w="12700">
            <a:solidFill>
              <a:srgbClr val="1B4332"/>
            </a:solidFill>
            <a:prstDash val="solid"/>
          </a:ln>
        </p:spPr>
      </p:sp>
      <p:sp>
        <p:nvSpPr>
          <p:cNvPr id="20" name="Text 16"/>
          <p:cNvSpPr/>
          <p:nvPr/>
        </p:nvSpPr>
        <p:spPr>
          <a:xfrm>
            <a:off x="8092440" y="5120640"/>
            <a:ext cx="1874520" cy="201168"/>
          </a:xfrm>
          <a:prstGeom prst="rect">
            <a:avLst/>
          </a:prstGeom>
          <a:noFill/>
          <a:ln/>
        </p:spPr>
        <p:txBody>
          <a:bodyPr wrap="square" lIns="0" tIns="0" rIns="0" bIns="0" rtlCol="0" anchor="ctr"/>
          <a:lstStyle/>
          <a:p>
            <a:pPr algn="ctr" indent="0" marL="0">
              <a:buNone/>
            </a:pPr>
            <a:r>
              <a:rPr lang="en-US" sz="1250" b="1" dirty="0">
                <a:solidFill>
                  <a:srgbClr val="1B4332"/>
                </a:solidFill>
                <a:latin typeface="Aptos" pitchFamily="34" charset="0"/>
                <a:ea typeface="Aptos" pitchFamily="34" charset="-122"/>
                <a:cs typeface="Aptos" pitchFamily="34" charset="-120"/>
              </a:rPr>
              <a:t>Yield estimate</a:t>
            </a:r>
            <a:endParaRPr lang="en-US" sz="1250" dirty="0"/>
          </a:p>
        </p:txBody>
      </p:sp>
      <p:sp>
        <p:nvSpPr>
          <p:cNvPr id="21" name="Shape 17"/>
          <p:cNvSpPr/>
          <p:nvPr/>
        </p:nvSpPr>
        <p:spPr>
          <a:xfrm>
            <a:off x="9738360" y="5742432"/>
            <a:ext cx="1645920" cy="475488"/>
          </a:xfrm>
          <a:prstGeom prst="roundRect">
            <a:avLst>
              <a:gd name="adj" fmla="val 23077"/>
            </a:avLst>
          </a:prstGeom>
          <a:solidFill>
            <a:srgbClr val="FFFFFF"/>
          </a:solidFill>
          <a:ln w="15240">
            <a:solidFill>
              <a:srgbClr val="1B4332"/>
            </a:solidFill>
            <a:prstDash val="solid"/>
          </a:ln>
        </p:spPr>
      </p:sp>
      <p:sp>
        <p:nvSpPr>
          <p:cNvPr id="22" name="Text 18"/>
          <p:cNvSpPr/>
          <p:nvPr/>
        </p:nvSpPr>
        <p:spPr>
          <a:xfrm>
            <a:off x="9902952" y="5861304"/>
            <a:ext cx="1316736" cy="274320"/>
          </a:xfrm>
          <a:prstGeom prst="rect">
            <a:avLst/>
          </a:prstGeom>
          <a:noFill/>
          <a:ln/>
        </p:spPr>
        <p:txBody>
          <a:bodyPr wrap="square" lIns="254" tIns="254" rIns="254" bIns="254" rtlCol="0" anchor="ctr">
            <a:normAutofit/>
          </a:bodyPr>
          <a:lstStyle/>
          <a:p>
            <a:pPr indent="0" marL="0">
              <a:buNone/>
            </a:pPr>
            <a:r>
              <a:rPr lang="en-US" sz="1300" dirty="0">
                <a:solidFill>
                  <a:srgbClr val="334155"/>
                </a:solidFill>
                <a:latin typeface="Aptos" pitchFamily="34" charset="0"/>
                <a:ea typeface="Aptos" pitchFamily="34" charset="-122"/>
                <a:cs typeface="Aptos" pitchFamily="34" charset="-120"/>
              </a:rPr>
              <a:t>Verified: 10.054 Q/acre</a:t>
            </a:r>
            <a:endParaRPr lang="en-US" sz="1300" dirty="0"/>
          </a:p>
        </p:txBody>
      </p:sp>
      <p:sp>
        <p:nvSpPr>
          <p:cNvPr id="23" name="Text 19"/>
          <p:cNvSpPr/>
          <p:nvPr/>
        </p:nvSpPr>
        <p:spPr>
          <a:xfrm>
            <a:off x="11109960" y="6446520"/>
            <a:ext cx="548640" cy="201168"/>
          </a:xfrm>
          <a:prstGeom prst="rect">
            <a:avLst/>
          </a:prstGeom>
          <a:noFill/>
          <a:ln/>
        </p:spPr>
        <p:txBody>
          <a:bodyPr wrap="square" lIns="0" tIns="0" rIns="0" bIns="0" rtlCol="0" anchor="ctr"/>
          <a:lstStyle/>
          <a:p>
            <a:pPr algn="r" indent="0" marL="0">
              <a:buNone/>
            </a:pPr>
            <a:r>
              <a:rPr lang="en-US" sz="900" dirty="0">
                <a:solidFill>
                  <a:srgbClr val="94A3B8"/>
                </a:solidFill>
                <a:latin typeface="Aptos" pitchFamily="34" charset="0"/>
                <a:ea typeface="Aptos" pitchFamily="34" charset="-122"/>
                <a:cs typeface="Aptos"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2E8"/>
        </a:solidFill>
      </p:bgPr>
    </p:bg>
    <p:spTree>
      <p:nvGrpSpPr>
        <p:cNvPr id="1" name=""/>
        <p:cNvGrpSpPr/>
        <p:nvPr/>
      </p:nvGrpSpPr>
      <p:grpSpPr>
        <a:xfrm>
          <a:off x="0" y="0"/>
          <a:ext cx="0" cy="0"/>
          <a:chOff x="0" y="0"/>
          <a:chExt cx="0" cy="0"/>
        </a:xfrm>
      </p:grpSpPr>
      <p:sp>
        <p:nvSpPr>
          <p:cNvPr id="2" name="Text 0"/>
          <p:cNvSpPr/>
          <p:nvPr/>
        </p:nvSpPr>
        <p:spPr>
          <a:xfrm>
            <a:off x="502920" y="329184"/>
            <a:ext cx="7406640" cy="329184"/>
          </a:xfrm>
          <a:prstGeom prst="rect">
            <a:avLst/>
          </a:prstGeom>
          <a:noFill/>
          <a:ln/>
        </p:spPr>
        <p:txBody>
          <a:bodyPr wrap="square" lIns="0" tIns="0" rIns="0" bIns="0" rtlCol="0" anchor="ctr"/>
          <a:lstStyle/>
          <a:p>
            <a:pPr indent="0" marL="0">
              <a:buNone/>
            </a:pPr>
            <a:r>
              <a:rPr lang="en-US" sz="2300" b="1" dirty="0">
                <a:solidFill>
                  <a:srgbClr val="1B4332"/>
                </a:solidFill>
                <a:latin typeface="Aptos Display" pitchFamily="34" charset="0"/>
                <a:ea typeface="Aptos Display" pitchFamily="34" charset="-122"/>
                <a:cs typeface="Aptos Display" pitchFamily="34" charset="-120"/>
              </a:rPr>
              <a:t>Business recommendation: invest in better data</a:t>
            </a:r>
            <a:endParaRPr lang="en-US" sz="2300" dirty="0"/>
          </a:p>
        </p:txBody>
      </p:sp>
      <p:sp>
        <p:nvSpPr>
          <p:cNvPr id="3" name="Text 1"/>
          <p:cNvSpPr/>
          <p:nvPr/>
        </p:nvSpPr>
        <p:spPr>
          <a:xfrm>
            <a:off x="8549640" y="384048"/>
            <a:ext cx="3291840" cy="219456"/>
          </a:xfrm>
          <a:prstGeom prst="rect">
            <a:avLst/>
          </a:prstGeom>
          <a:noFill/>
          <a:ln/>
        </p:spPr>
        <p:txBody>
          <a:bodyPr wrap="square" lIns="0" tIns="0" rIns="0" bIns="0" rtlCol="0" anchor="ctr"/>
          <a:lstStyle/>
          <a:p>
            <a:pPr algn="r" indent="0" marL="0">
              <a:buNone/>
            </a:pPr>
            <a:r>
              <a:rPr lang="en-US" sz="950" dirty="0">
                <a:solidFill>
                  <a:srgbClr val="64748B"/>
                </a:solidFill>
                <a:latin typeface="Aptos" pitchFamily="34" charset="0"/>
                <a:ea typeface="Aptos" pitchFamily="34" charset="-122"/>
                <a:cs typeface="Aptos" pitchFamily="34" charset="-120"/>
              </a:rPr>
              <a:t>Gamma 2 • Crop Yield Prediction</a:t>
            </a:r>
            <a:endParaRPr lang="en-US" sz="950" dirty="0"/>
          </a:p>
        </p:txBody>
      </p:sp>
      <p:sp>
        <p:nvSpPr>
          <p:cNvPr id="4" name="Shape 2"/>
          <p:cNvSpPr/>
          <p:nvPr/>
        </p:nvSpPr>
        <p:spPr>
          <a:xfrm>
            <a:off x="502920" y="768096"/>
            <a:ext cx="11201400" cy="0"/>
          </a:xfrm>
          <a:prstGeom prst="line">
            <a:avLst/>
          </a:prstGeom>
          <a:noFill/>
          <a:ln w="12700">
            <a:solidFill>
              <a:srgbClr val="E2E8F0"/>
            </a:solidFill>
            <a:prstDash val="solid"/>
          </a:ln>
        </p:spPr>
      </p:sp>
      <p:sp>
        <p:nvSpPr>
          <p:cNvPr id="5" name="Text 3"/>
          <p:cNvSpPr/>
          <p:nvPr/>
        </p:nvSpPr>
        <p:spPr>
          <a:xfrm>
            <a:off x="777240" y="1042416"/>
            <a:ext cx="10515600" cy="475488"/>
          </a:xfrm>
          <a:prstGeom prst="rect">
            <a:avLst/>
          </a:prstGeom>
          <a:noFill/>
          <a:ln/>
        </p:spPr>
        <p:txBody>
          <a:bodyPr wrap="square" lIns="0" tIns="0" rIns="0" bIns="0" rtlCol="0" anchor="ctr"/>
          <a:lstStyle/>
          <a:p>
            <a:pPr algn="ctr" indent="0" marL="0">
              <a:buNone/>
            </a:pPr>
            <a:r>
              <a:rPr lang="en-US" sz="2600" b="1" dirty="0">
                <a:solidFill>
                  <a:srgbClr val="1B4332"/>
                </a:solidFill>
                <a:latin typeface="Aptos Display" pitchFamily="34" charset="0"/>
                <a:ea typeface="Aptos Display" pitchFamily="34" charset="-122"/>
                <a:cs typeface="Aptos Display" pitchFamily="34" charset="-120"/>
              </a:rPr>
              <a:t>The next leap will come from data, not from adding another algorithm.</a:t>
            </a:r>
            <a:endParaRPr lang="en-US" sz="2600" dirty="0"/>
          </a:p>
        </p:txBody>
      </p:sp>
      <p:sp>
        <p:nvSpPr>
          <p:cNvPr id="6" name="Shape 4"/>
          <p:cNvSpPr/>
          <p:nvPr/>
        </p:nvSpPr>
        <p:spPr>
          <a:xfrm>
            <a:off x="1051560" y="1938528"/>
            <a:ext cx="475488" cy="475488"/>
          </a:xfrm>
          <a:prstGeom prst="ellipse">
            <a:avLst/>
          </a:prstGeom>
          <a:solidFill>
            <a:srgbClr val="1B4332"/>
          </a:solidFill>
          <a:ln w="12700">
            <a:solidFill>
              <a:srgbClr val="FFFFFF"/>
            </a:solidFill>
            <a:prstDash val="solid"/>
          </a:ln>
        </p:spPr>
      </p:sp>
      <p:sp>
        <p:nvSpPr>
          <p:cNvPr id="7" name="Text 5"/>
          <p:cNvSpPr/>
          <p:nvPr/>
        </p:nvSpPr>
        <p:spPr>
          <a:xfrm>
            <a:off x="1051560" y="2048256"/>
            <a:ext cx="475488"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8" name="Text 6"/>
          <p:cNvSpPr/>
          <p:nvPr/>
        </p:nvSpPr>
        <p:spPr>
          <a:xfrm>
            <a:off x="1737360" y="1920240"/>
            <a:ext cx="4892040" cy="256032"/>
          </a:xfrm>
          <a:prstGeom prst="rect">
            <a:avLst/>
          </a:prstGeom>
          <a:noFill/>
          <a:ln/>
        </p:spPr>
        <p:txBody>
          <a:bodyPr wrap="square" lIns="0" tIns="0" rIns="0" bIns="0" rtlCol="0" anchor="ctr"/>
          <a:lstStyle/>
          <a:p>
            <a:pPr indent="0" marL="0">
              <a:buNone/>
            </a:pPr>
            <a:r>
              <a:rPr lang="en-US" sz="1700" b="1" dirty="0">
                <a:solidFill>
                  <a:srgbClr val="334155"/>
                </a:solidFill>
                <a:latin typeface="Aptos Display" pitchFamily="34" charset="0"/>
                <a:ea typeface="Aptos Display" pitchFamily="34" charset="-122"/>
                <a:cs typeface="Aptos Display" pitchFamily="34" charset="-120"/>
              </a:rPr>
              <a:t>Collect richer farm data</a:t>
            </a:r>
            <a:endParaRPr lang="en-US" sz="1700" dirty="0"/>
          </a:p>
        </p:txBody>
      </p:sp>
      <p:sp>
        <p:nvSpPr>
          <p:cNvPr id="9" name="Text 7"/>
          <p:cNvSpPr/>
          <p:nvPr/>
        </p:nvSpPr>
        <p:spPr>
          <a:xfrm>
            <a:off x="1737360" y="2231136"/>
            <a:ext cx="5166360" cy="228600"/>
          </a:xfrm>
          <a:prstGeom prst="rect">
            <a:avLst/>
          </a:prstGeom>
          <a:noFill/>
          <a:ln/>
        </p:spPr>
        <p:txBody>
          <a:bodyPr wrap="square" lIns="0" tIns="0" rIns="0" bIns="0" rtlCol="0" anchor="ctr"/>
          <a:lstStyle/>
          <a:p>
            <a:pPr indent="0" marL="0">
              <a:buNone/>
            </a:pPr>
            <a:r>
              <a:rPr lang="en-US" sz="1180" dirty="0">
                <a:solidFill>
                  <a:srgbClr val="64748B"/>
                </a:solidFill>
                <a:latin typeface="Aptos" pitchFamily="34" charset="0"/>
                <a:ea typeface="Aptos" pitchFamily="34" charset="-122"/>
                <a:cs typeface="Aptos" pitchFamily="34" charset="-120"/>
              </a:rPr>
              <a:t>location • season • soil • irrigation • variety • management</a:t>
            </a:r>
            <a:endParaRPr lang="en-US" sz="1180" dirty="0"/>
          </a:p>
        </p:txBody>
      </p:sp>
      <p:sp>
        <p:nvSpPr>
          <p:cNvPr id="10" name="Shape 8"/>
          <p:cNvSpPr/>
          <p:nvPr/>
        </p:nvSpPr>
        <p:spPr>
          <a:xfrm>
            <a:off x="1051560" y="2807208"/>
            <a:ext cx="475488" cy="475488"/>
          </a:xfrm>
          <a:prstGeom prst="ellipse">
            <a:avLst/>
          </a:prstGeom>
          <a:solidFill>
            <a:srgbClr val="2563EB"/>
          </a:solidFill>
          <a:ln w="12700">
            <a:solidFill>
              <a:srgbClr val="FFFFFF"/>
            </a:solidFill>
            <a:prstDash val="solid"/>
          </a:ln>
        </p:spPr>
      </p:sp>
      <p:sp>
        <p:nvSpPr>
          <p:cNvPr id="11" name="Text 9"/>
          <p:cNvSpPr/>
          <p:nvPr/>
        </p:nvSpPr>
        <p:spPr>
          <a:xfrm>
            <a:off x="1051560" y="2916936"/>
            <a:ext cx="475488"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2" name="Text 10"/>
          <p:cNvSpPr/>
          <p:nvPr/>
        </p:nvSpPr>
        <p:spPr>
          <a:xfrm>
            <a:off x="1737360" y="2788920"/>
            <a:ext cx="4892040" cy="256032"/>
          </a:xfrm>
          <a:prstGeom prst="rect">
            <a:avLst/>
          </a:prstGeom>
          <a:noFill/>
          <a:ln/>
        </p:spPr>
        <p:txBody>
          <a:bodyPr wrap="square" lIns="0" tIns="0" rIns="0" bIns="0" rtlCol="0" anchor="ctr"/>
          <a:lstStyle/>
          <a:p>
            <a:pPr indent="0" marL="0">
              <a:buNone/>
            </a:pPr>
            <a:r>
              <a:rPr lang="en-US" sz="1700" b="1" dirty="0">
                <a:solidFill>
                  <a:srgbClr val="334155"/>
                </a:solidFill>
                <a:latin typeface="Aptos Display" pitchFamily="34" charset="0"/>
                <a:ea typeface="Aptos Display" pitchFamily="34" charset="-122"/>
                <a:cs typeface="Aptos Display" pitchFamily="34" charset="-120"/>
              </a:rPr>
              <a:t>Integrate external data responsibly</a:t>
            </a:r>
            <a:endParaRPr lang="en-US" sz="1700" dirty="0"/>
          </a:p>
        </p:txBody>
      </p:sp>
      <p:sp>
        <p:nvSpPr>
          <p:cNvPr id="13" name="Text 11"/>
          <p:cNvSpPr/>
          <p:nvPr/>
        </p:nvSpPr>
        <p:spPr>
          <a:xfrm>
            <a:off x="1737360" y="3099816"/>
            <a:ext cx="5166360" cy="228600"/>
          </a:xfrm>
          <a:prstGeom prst="rect">
            <a:avLst/>
          </a:prstGeom>
          <a:noFill/>
          <a:ln/>
        </p:spPr>
        <p:txBody>
          <a:bodyPr wrap="square" lIns="0" tIns="0" rIns="0" bIns="0" rtlCol="0" anchor="ctr"/>
          <a:lstStyle/>
          <a:p>
            <a:pPr indent="0" marL="0">
              <a:buNone/>
            </a:pPr>
            <a:r>
              <a:rPr lang="en-US" sz="1180" dirty="0">
                <a:solidFill>
                  <a:srgbClr val="64748B"/>
                </a:solidFill>
                <a:latin typeface="Aptos" pitchFamily="34" charset="0"/>
                <a:ea typeface="Aptos" pitchFamily="34" charset="-122"/>
                <a:cs typeface="Aptos" pitchFamily="34" charset="-120"/>
              </a:rPr>
              <a:t>weather • soil • satellite data only with reliable IDs</a:t>
            </a:r>
            <a:endParaRPr lang="en-US" sz="1180" dirty="0"/>
          </a:p>
        </p:txBody>
      </p:sp>
      <p:sp>
        <p:nvSpPr>
          <p:cNvPr id="14" name="Shape 12"/>
          <p:cNvSpPr/>
          <p:nvPr/>
        </p:nvSpPr>
        <p:spPr>
          <a:xfrm>
            <a:off x="1051560" y="3675888"/>
            <a:ext cx="475488" cy="475488"/>
          </a:xfrm>
          <a:prstGeom prst="ellipse">
            <a:avLst/>
          </a:prstGeom>
          <a:solidFill>
            <a:srgbClr val="D97706"/>
          </a:solidFill>
          <a:ln w="12700">
            <a:solidFill>
              <a:srgbClr val="FFFFFF"/>
            </a:solidFill>
            <a:prstDash val="solid"/>
          </a:ln>
        </p:spPr>
      </p:sp>
      <p:sp>
        <p:nvSpPr>
          <p:cNvPr id="15" name="Text 13"/>
          <p:cNvSpPr/>
          <p:nvPr/>
        </p:nvSpPr>
        <p:spPr>
          <a:xfrm>
            <a:off x="1051560" y="3785616"/>
            <a:ext cx="475488"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6" name="Text 14"/>
          <p:cNvSpPr/>
          <p:nvPr/>
        </p:nvSpPr>
        <p:spPr>
          <a:xfrm>
            <a:off x="1737360" y="3657600"/>
            <a:ext cx="4892040" cy="256032"/>
          </a:xfrm>
          <a:prstGeom prst="rect">
            <a:avLst/>
          </a:prstGeom>
          <a:noFill/>
          <a:ln/>
        </p:spPr>
        <p:txBody>
          <a:bodyPr wrap="square" lIns="0" tIns="0" rIns="0" bIns="0" rtlCol="0" anchor="ctr"/>
          <a:lstStyle/>
          <a:p>
            <a:pPr indent="0" marL="0">
              <a:buNone/>
            </a:pPr>
            <a:r>
              <a:rPr lang="en-US" sz="1700" b="1" dirty="0">
                <a:solidFill>
                  <a:srgbClr val="334155"/>
                </a:solidFill>
                <a:latin typeface="Aptos Display" pitchFamily="34" charset="0"/>
                <a:ea typeface="Aptos Display" pitchFamily="34" charset="-122"/>
                <a:cs typeface="Aptos Display" pitchFamily="34" charset="-120"/>
              </a:rPr>
              <a:t>Validate before operational use</a:t>
            </a:r>
            <a:endParaRPr lang="en-US" sz="1700" dirty="0"/>
          </a:p>
        </p:txBody>
      </p:sp>
      <p:sp>
        <p:nvSpPr>
          <p:cNvPr id="17" name="Text 15"/>
          <p:cNvSpPr/>
          <p:nvPr/>
        </p:nvSpPr>
        <p:spPr>
          <a:xfrm>
            <a:off x="1737360" y="3968496"/>
            <a:ext cx="5166360" cy="228600"/>
          </a:xfrm>
          <a:prstGeom prst="rect">
            <a:avLst/>
          </a:prstGeom>
          <a:noFill/>
          <a:ln/>
        </p:spPr>
        <p:txBody>
          <a:bodyPr wrap="square" lIns="0" tIns="0" rIns="0" bIns="0" rtlCol="0" anchor="ctr"/>
          <a:lstStyle/>
          <a:p>
            <a:pPr indent="0" marL="0">
              <a:buNone/>
            </a:pPr>
            <a:r>
              <a:rPr lang="en-US" sz="1180" dirty="0">
                <a:solidFill>
                  <a:srgbClr val="64748B"/>
                </a:solidFill>
                <a:latin typeface="Aptos" pitchFamily="34" charset="0"/>
                <a:ea typeface="Aptos" pitchFamily="34" charset="-122"/>
                <a:cs typeface="Aptos" pitchFamily="34" charset="-120"/>
              </a:rPr>
              <a:t>independent data • uncertainty intervals • expert review</a:t>
            </a:r>
            <a:endParaRPr lang="en-US" sz="1180" dirty="0"/>
          </a:p>
        </p:txBody>
      </p:sp>
      <p:sp>
        <p:nvSpPr>
          <p:cNvPr id="18" name="Shape 16"/>
          <p:cNvSpPr/>
          <p:nvPr/>
        </p:nvSpPr>
        <p:spPr>
          <a:xfrm>
            <a:off x="1051560" y="4544568"/>
            <a:ext cx="475488" cy="475488"/>
          </a:xfrm>
          <a:prstGeom prst="ellipse">
            <a:avLst/>
          </a:prstGeom>
          <a:solidFill>
            <a:srgbClr val="334155"/>
          </a:solidFill>
          <a:ln w="12700">
            <a:solidFill>
              <a:srgbClr val="FFFFFF"/>
            </a:solidFill>
            <a:prstDash val="solid"/>
          </a:ln>
        </p:spPr>
      </p:sp>
      <p:sp>
        <p:nvSpPr>
          <p:cNvPr id="19" name="Text 17"/>
          <p:cNvSpPr/>
          <p:nvPr/>
        </p:nvSpPr>
        <p:spPr>
          <a:xfrm>
            <a:off x="1051560" y="4654296"/>
            <a:ext cx="475488"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20" name="Text 18"/>
          <p:cNvSpPr/>
          <p:nvPr/>
        </p:nvSpPr>
        <p:spPr>
          <a:xfrm>
            <a:off x="1737360" y="4526280"/>
            <a:ext cx="4892040" cy="256032"/>
          </a:xfrm>
          <a:prstGeom prst="rect">
            <a:avLst/>
          </a:prstGeom>
          <a:noFill/>
          <a:ln/>
        </p:spPr>
        <p:txBody>
          <a:bodyPr wrap="square" lIns="0" tIns="0" rIns="0" bIns="0" rtlCol="0" anchor="ctr"/>
          <a:lstStyle/>
          <a:p>
            <a:pPr indent="0" marL="0">
              <a:buNone/>
            </a:pPr>
            <a:r>
              <a:rPr lang="en-US" sz="1700" b="1" dirty="0">
                <a:solidFill>
                  <a:srgbClr val="334155"/>
                </a:solidFill>
                <a:latin typeface="Aptos Display" pitchFamily="34" charset="0"/>
                <a:ea typeface="Aptos Display" pitchFamily="34" charset="-122"/>
                <a:cs typeface="Aptos Display" pitchFamily="34" charset="-120"/>
              </a:rPr>
              <a:t>Monitor model performance</a:t>
            </a:r>
            <a:endParaRPr lang="en-US" sz="1700" dirty="0"/>
          </a:p>
        </p:txBody>
      </p:sp>
      <p:sp>
        <p:nvSpPr>
          <p:cNvPr id="21" name="Text 19"/>
          <p:cNvSpPr/>
          <p:nvPr/>
        </p:nvSpPr>
        <p:spPr>
          <a:xfrm>
            <a:off x="1737360" y="4837176"/>
            <a:ext cx="5166360" cy="228600"/>
          </a:xfrm>
          <a:prstGeom prst="rect">
            <a:avLst/>
          </a:prstGeom>
          <a:noFill/>
          <a:ln/>
        </p:spPr>
        <p:txBody>
          <a:bodyPr wrap="square" lIns="0" tIns="0" rIns="0" bIns="0" rtlCol="0" anchor="ctr"/>
          <a:lstStyle/>
          <a:p>
            <a:pPr indent="0" marL="0">
              <a:buNone/>
            </a:pPr>
            <a:r>
              <a:rPr lang="en-US" sz="1180" dirty="0">
                <a:solidFill>
                  <a:srgbClr val="64748B"/>
                </a:solidFill>
                <a:latin typeface="Aptos" pitchFamily="34" charset="0"/>
                <a:ea typeface="Aptos" pitchFamily="34" charset="-122"/>
                <a:cs typeface="Aptos" pitchFamily="34" charset="-120"/>
              </a:rPr>
              <a:t>actual harvest outcomes • drift • retraining plan</a:t>
            </a:r>
            <a:endParaRPr lang="en-US" sz="1180" dirty="0"/>
          </a:p>
        </p:txBody>
      </p:sp>
      <p:sp>
        <p:nvSpPr>
          <p:cNvPr id="22" name="Shape 20"/>
          <p:cNvSpPr/>
          <p:nvPr/>
        </p:nvSpPr>
        <p:spPr>
          <a:xfrm>
            <a:off x="7132320" y="1993392"/>
            <a:ext cx="4069080" cy="2514600"/>
          </a:xfrm>
          <a:prstGeom prst="roundRect">
            <a:avLst>
              <a:gd name="adj" fmla="val 6545"/>
            </a:avLst>
          </a:prstGeom>
          <a:solidFill>
            <a:srgbClr val="FFFFFF"/>
          </a:solidFill>
          <a:ln w="15240">
            <a:solidFill>
              <a:srgbClr val="1B4332"/>
            </a:solidFill>
            <a:prstDash val="solid"/>
          </a:ln>
        </p:spPr>
      </p:sp>
      <p:sp>
        <p:nvSpPr>
          <p:cNvPr id="23" name="Text 21"/>
          <p:cNvSpPr/>
          <p:nvPr/>
        </p:nvSpPr>
        <p:spPr>
          <a:xfrm>
            <a:off x="7388352" y="2304288"/>
            <a:ext cx="1737360" cy="237744"/>
          </a:xfrm>
          <a:prstGeom prst="rect">
            <a:avLst/>
          </a:prstGeom>
          <a:noFill/>
          <a:ln/>
        </p:spPr>
        <p:txBody>
          <a:bodyPr wrap="square" lIns="0" tIns="0" rIns="0" bIns="0" rtlCol="0" anchor="ctr"/>
          <a:lstStyle/>
          <a:p>
            <a:pPr indent="0" marL="0">
              <a:buNone/>
            </a:pPr>
            <a:r>
              <a:rPr lang="en-US" sz="1200" b="1" dirty="0">
                <a:solidFill>
                  <a:srgbClr val="D97706"/>
                </a:solidFill>
                <a:latin typeface="Aptos" pitchFamily="34" charset="0"/>
                <a:ea typeface="Aptos" pitchFamily="34" charset="-122"/>
                <a:cs typeface="Aptos" pitchFamily="34" charset="-120"/>
              </a:rPr>
              <a:t>Final message</a:t>
            </a:r>
            <a:endParaRPr lang="en-US" sz="1200" dirty="0"/>
          </a:p>
        </p:txBody>
      </p:sp>
      <p:sp>
        <p:nvSpPr>
          <p:cNvPr id="24" name="Text 22"/>
          <p:cNvSpPr/>
          <p:nvPr/>
        </p:nvSpPr>
        <p:spPr>
          <a:xfrm>
            <a:off x="7388352" y="2679192"/>
            <a:ext cx="3566160" cy="658368"/>
          </a:xfrm>
          <a:prstGeom prst="rect">
            <a:avLst/>
          </a:prstGeom>
          <a:noFill/>
          <a:ln/>
        </p:spPr>
        <p:txBody>
          <a:bodyPr wrap="square" lIns="0" tIns="0" rIns="0" bIns="0" rtlCol="0" anchor="ctr">
            <a:normAutofit/>
          </a:bodyPr>
          <a:lstStyle/>
          <a:p>
            <a:pPr indent="0" marL="0">
              <a:buNone/>
            </a:pPr>
            <a:r>
              <a:rPr lang="en-US" sz="1800" b="1" dirty="0">
                <a:solidFill>
                  <a:srgbClr val="334155"/>
                </a:solidFill>
                <a:latin typeface="Aptos Display" pitchFamily="34" charset="0"/>
                <a:ea typeface="Aptos Display" pitchFamily="34" charset="-122"/>
                <a:cs typeface="Aptos Display" pitchFamily="34" charset="-120"/>
              </a:rPr>
              <a:t>A transparent weak model is more valuable than an artificially impressive model with weak evidence.</a:t>
            </a:r>
            <a:endParaRPr lang="en-US" sz="1800" dirty="0"/>
          </a:p>
        </p:txBody>
      </p:sp>
      <p:sp>
        <p:nvSpPr>
          <p:cNvPr id="25" name="Text 23"/>
          <p:cNvSpPr/>
          <p:nvPr/>
        </p:nvSpPr>
        <p:spPr>
          <a:xfrm>
            <a:off x="7388352" y="3675888"/>
            <a:ext cx="3520440" cy="411480"/>
          </a:xfrm>
          <a:prstGeom prst="rect">
            <a:avLst/>
          </a:prstGeom>
          <a:noFill/>
          <a:ln/>
        </p:spPr>
        <p:txBody>
          <a:bodyPr wrap="square" lIns="0" tIns="0" rIns="0" bIns="0" rtlCol="0" anchor="ctr"/>
          <a:lstStyle/>
          <a:p>
            <a:pPr indent="0" marL="0">
              <a:buNone/>
            </a:pPr>
            <a:r>
              <a:rPr lang="en-US" sz="1300" dirty="0">
                <a:solidFill>
                  <a:srgbClr val="1B4332"/>
                </a:solidFill>
                <a:latin typeface="Aptos" pitchFamily="34" charset="0"/>
                <a:ea typeface="Aptos" pitchFamily="34" charset="-122"/>
                <a:cs typeface="Aptos" pitchFamily="34" charset="-120"/>
              </a:rPr>
              <a:t>Use the prototype to demonstrate capability. Use better data to build the real product.</a:t>
            </a:r>
            <a:endParaRPr lang="en-US" sz="1300" dirty="0"/>
          </a:p>
        </p:txBody>
      </p:sp>
      <p:sp>
        <p:nvSpPr>
          <p:cNvPr id="26" name="Text 24"/>
          <p:cNvSpPr/>
          <p:nvPr/>
        </p:nvSpPr>
        <p:spPr>
          <a:xfrm>
            <a:off x="11109960" y="6446520"/>
            <a:ext cx="548640" cy="201168"/>
          </a:xfrm>
          <a:prstGeom prst="rect">
            <a:avLst/>
          </a:prstGeom>
          <a:noFill/>
          <a:ln/>
        </p:spPr>
        <p:txBody>
          <a:bodyPr wrap="square" lIns="0" tIns="0" rIns="0" bIns="0" rtlCol="0" anchor="ctr"/>
          <a:lstStyle/>
          <a:p>
            <a:pPr algn="r" indent="0" marL="0">
              <a:buNone/>
            </a:pPr>
            <a:r>
              <a:rPr lang="en-US" sz="900" dirty="0">
                <a:solidFill>
                  <a:srgbClr val="94A3B8"/>
                </a:solidFill>
                <a:latin typeface="Aptos" pitchFamily="34" charset="0"/>
                <a:ea typeface="Aptos" pitchFamily="34" charset="-122"/>
                <a:cs typeface="Aptos" pitchFamily="34" charset="-120"/>
              </a:rPr>
              <a:t>10</a:t>
            </a:r>
            <a:endParaRPr lang="en-US" sz="900" dirty="0"/>
          </a:p>
        </p:txBody>
      </p:sp>
      <p:sp>
        <p:nvSpPr>
          <p:cNvPr id="27" name="TextBox 26"/>
          <p:cNvSpPr txBox="1"/>
          <p:nvPr/>
        </p:nvSpPr>
        <p:spPr>
          <a:xfrm>
            <a:off x="685800" y="5212080"/>
            <a:ext cx="2926080" cy="228600"/>
          </a:xfrm>
          <a:prstGeom prst="rect">
            <a:avLst/>
          </a:prstGeom>
          <a:noFill/>
        </p:spPr>
        <p:txBody>
          <a:bodyPr wrap="none" lIns="0" rIns="0">
            <a:spAutoFit/>
          </a:bodyPr>
          <a:lstStyle/>
          <a:p>
            <a:r>
              <a:rPr sz="1050" b="1">
                <a:solidFill>
                  <a:srgbClr val="D97706"/>
                </a:solidFill>
                <a:latin typeface="Aptos"/>
              </a:rPr>
              <a:t>EXPLORE THE PROJECT</a:t>
            </a:r>
          </a:p>
        </p:txBody>
      </p:sp>
      <p:sp>
        <p:nvSpPr>
          <p:cNvPr id="28" name="Rounded Rectangle 27">
            <a:hlinkClick r:id="rId3"/>
          </p:cNvPr>
          <p:cNvSpPr/>
          <p:nvPr/>
        </p:nvSpPr>
        <p:spPr>
          <a:xfrm>
            <a:off x="685800" y="5468112"/>
            <a:ext cx="5230368" cy="658368"/>
          </a:xfrm>
          <a:prstGeom prst="roundRect">
            <a:avLst/>
          </a:prstGeom>
          <a:solidFill>
            <a:srgbClr val="334155"/>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228600" rIns="182880" tIns="82296" bIns="54864"/>
          <a:lstStyle/>
          <a:p>
            <a:pPr algn="l"/>
            <a:r>
              <a:rPr sz="1300" b="1">
                <a:solidFill>
                  <a:srgbClr val="FFFFFF"/>
                </a:solidFill>
                <a:latin typeface="Aptos"/>
              </a:rPr>
              <a:t>GitHub repository  ↗</a:t>
            </a:r>
          </a:p>
          <a:p>
            <a:pPr algn="l">
              <a:spcBef>
                <a:spcPts val="100"/>
              </a:spcBef>
            </a:pPr>
            <a:r>
              <a:rPr sz="850">
                <a:solidFill>
                  <a:srgbClr val="E2E8F0"/>
                </a:solidFill>
                <a:latin typeface="Aptos"/>
              </a:rPr>
              <a:t>github.com/Ronkecrown/gamma2-crop-yield-prediction</a:t>
            </a:r>
          </a:p>
        </p:txBody>
      </p:sp>
      <p:sp>
        <p:nvSpPr>
          <p:cNvPr id="29" name="Rounded Rectangle 28">
            <a:hlinkClick r:id="rId4"/>
          </p:cNvPr>
          <p:cNvSpPr/>
          <p:nvPr/>
        </p:nvSpPr>
        <p:spPr>
          <a:xfrm>
            <a:off x="6272784" y="5468112"/>
            <a:ext cx="5230368" cy="658368"/>
          </a:xfrm>
          <a:prstGeom prst="roundRect">
            <a:avLst/>
          </a:prstGeom>
          <a:solidFill>
            <a:srgbClr val="1B4332"/>
          </a:solidFill>
          <a:ln w="6350">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lIns="228600" rIns="182880" tIns="82296" bIns="54864"/>
          <a:lstStyle/>
          <a:p>
            <a:pPr algn="l"/>
            <a:r>
              <a:rPr sz="1300" b="1">
                <a:solidFill>
                  <a:srgbClr val="FFFFFF"/>
                </a:solidFill>
                <a:latin typeface="Aptos"/>
              </a:rPr>
              <a:t>Live Streamlit app  ↗</a:t>
            </a:r>
          </a:p>
          <a:p>
            <a:pPr algn="l">
              <a:spcBef>
                <a:spcPts val="100"/>
              </a:spcBef>
            </a:pPr>
            <a:r>
              <a:rPr sz="850">
                <a:solidFill>
                  <a:srgbClr val="E2E8F0"/>
                </a:solidFill>
                <a:latin typeface="Aptos"/>
              </a:rPr>
              <a:t>gamma2-crop-yield-predictor.streamlit.app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iiAfrica Industry Immersion Program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Crop Yield Prediction Using Machine Learning</dc:title>
  <dc:subject>Business presentation</dc:subject>
  <dc:creator>Gamma 2</dc:creator>
  <cp:lastModifiedBy>Gamma 2</cp:lastModifiedBy>
  <cp:revision>1</cp:revision>
  <dcterms:created xsi:type="dcterms:W3CDTF">2026-07-27T15:39:26Z</dcterms:created>
  <dcterms:modified xsi:type="dcterms:W3CDTF">2026-07-27T15:39:26Z</dcterms:modified>
</cp:coreProperties>
</file>